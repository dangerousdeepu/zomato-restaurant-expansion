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7"/>
  </p:notesMasterIdLst>
  <p:sldIdLst>
    <p:sldId id="256" r:id="rId2"/>
    <p:sldId id="280" r:id="rId3"/>
    <p:sldId id="257" r:id="rId4"/>
    <p:sldId id="267" r:id="rId5"/>
    <p:sldId id="258" r:id="rId6"/>
    <p:sldId id="259" r:id="rId7"/>
    <p:sldId id="260" r:id="rId8"/>
    <p:sldId id="261" r:id="rId9"/>
    <p:sldId id="263" r:id="rId10"/>
    <p:sldId id="265" r:id="rId11"/>
    <p:sldId id="268" r:id="rId12"/>
    <p:sldId id="281" r:id="rId13"/>
    <p:sldId id="282" r:id="rId14"/>
    <p:sldId id="269" r:id="rId15"/>
    <p:sldId id="270" r:id="rId16"/>
    <p:sldId id="271" r:id="rId17"/>
    <p:sldId id="272" r:id="rId18"/>
    <p:sldId id="273" r:id="rId19"/>
    <p:sldId id="274" r:id="rId20"/>
    <p:sldId id="275" r:id="rId21"/>
    <p:sldId id="276" r:id="rId22"/>
    <p:sldId id="277" r:id="rId23"/>
    <p:sldId id="278" r:id="rId24"/>
    <p:sldId id="283" r:id="rId25"/>
    <p:sldId id="279" r:id="rId26"/>
  </p:sldIdLst>
  <p:sldSz cx="9144000" cy="5143500" type="screen16x9"/>
  <p:notesSz cx="6858000" cy="9144000"/>
  <p:embeddedFontLst>
    <p:embeddedFont>
      <p:font typeface="Calibri" pitchFamily="34" charset="0"/>
      <p:regular r:id="rId28"/>
      <p:bold r:id="rId29"/>
      <p:italic r:id="rId30"/>
      <p:boldItalic r:id="rId31"/>
    </p:embeddedFont>
    <p:embeddedFont>
      <p:font typeface="Merriweather" charset="0"/>
      <p:regular r:id="rId32"/>
      <p:bold r:id="rId33"/>
      <p:italic r:id="rId34"/>
      <p:boldItalic r:id="rId35"/>
    </p:embeddedFont>
    <p:embeddedFont>
      <p:font typeface="Roboto"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B828CDD-8E2C-4306-B83F-5B825E94FB31}">
  <a:tblStyle styleId="{5B828CDD-8E2C-4306-B83F-5B825E94FB3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658"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82670094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309b18b374_0_5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309b18b374_0_5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35105c907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35105c907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31720ee68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31720ee68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309b18b374_0_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309b18b374_0_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309b18b374_0_5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309b18b374_0_5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309b18b374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309b18b374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343f16771d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343f16771d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343f16771d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343f16771d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343f16771d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343f16771d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343f16771d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343f16771d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343f16771d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343f16771d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35105c907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35105c907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35105c9073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35105c9073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35105c9073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35105c9073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35105c9073_0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35105c9073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35105c9073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35105c9073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35105c9073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35105c9073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35105c9073_0_2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35105c9073_0_2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35105c9073_0_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35105c9073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34cd8079a3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334cd8079a3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35105c9073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35105c9073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35105c9073_0_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35105c9073_0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p:nvPr/>
        </p:nvSpPr>
        <p:spPr>
          <a:xfrm>
            <a:off x="0" y="44125"/>
            <a:ext cx="4313625" cy="4399375"/>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3" name="Google Shape;23;p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4" name="Google Shape;24;p4"/>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25" name="Google Shape;25;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9" name="Google Shape;29;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1" name="Google Shape;3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5" name="Google Shape;3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txBox="1">
            <a:spLocks noGrp="1"/>
          </p:cNvSpPr>
          <p:nvPr>
            <p:ph type="title"/>
          </p:nvPr>
        </p:nvSpPr>
        <p:spPr>
          <a:xfrm>
            <a:off x="311725" y="500925"/>
            <a:ext cx="3127500" cy="18291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9" name="Google Shape;39;p7"/>
          <p:cNvSpPr txBox="1">
            <a:spLocks noGrp="1"/>
          </p:cNvSpPr>
          <p:nvPr>
            <p:ph type="body" idx="1"/>
          </p:nvPr>
        </p:nvSpPr>
        <p:spPr>
          <a:xfrm>
            <a:off x="311700" y="2390650"/>
            <a:ext cx="3127500" cy="229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40" name="Google Shape;4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3" name="Google Shape;4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gradFill flip="none" rotWithShape="1">
          <a:gsLst>
            <a:gs pos="0">
              <a:srgbClr val="FFEFD1"/>
            </a:gs>
            <a:gs pos="64999">
              <a:srgbClr val="F0EBD5"/>
            </a:gs>
            <a:gs pos="100000">
              <a:srgbClr val="D1C39F"/>
            </a:gs>
          </a:gsLst>
          <a:lin ang="5400000" scaled="0"/>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a:spLocks noGrp="1"/>
          </p:cNvSpPr>
          <p:nvPr>
            <p:ph type="title"/>
          </p:nvPr>
        </p:nvSpPr>
        <p:spPr>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GB" sz="2800" dirty="0" err="1" smtClean="0">
                <a:latin typeface="Calibri" pitchFamily="34" charset="0"/>
                <a:ea typeface="Calibri" pitchFamily="34" charset="0"/>
                <a:cs typeface="Calibri" pitchFamily="34" charset="0"/>
              </a:rPr>
              <a:t>Zomato</a:t>
            </a:r>
            <a:r>
              <a:rPr lang="en-GB" sz="2800" dirty="0" smtClean="0">
                <a:latin typeface="Calibri" pitchFamily="34" charset="0"/>
                <a:ea typeface="Calibri" pitchFamily="34" charset="0"/>
                <a:cs typeface="Calibri" pitchFamily="34" charset="0"/>
              </a:rPr>
              <a:t> Market </a:t>
            </a:r>
            <a:r>
              <a:rPr lang="en-GB" sz="2800" dirty="0" err="1" smtClean="0">
                <a:latin typeface="Calibri" pitchFamily="34" charset="0"/>
                <a:ea typeface="Calibri" pitchFamily="34" charset="0"/>
                <a:cs typeface="Calibri" pitchFamily="34" charset="0"/>
              </a:rPr>
              <a:t>Expension</a:t>
            </a:r>
            <a:r>
              <a:rPr lang="en-GB" sz="2800" dirty="0" smtClean="0">
                <a:latin typeface="Calibri" pitchFamily="34" charset="0"/>
                <a:ea typeface="Calibri" pitchFamily="34" charset="0"/>
                <a:cs typeface="Calibri" pitchFamily="34" charset="0"/>
              </a:rPr>
              <a:t> Analysis</a:t>
            </a:r>
            <a:br>
              <a:rPr lang="en-GB" sz="2800" dirty="0" smtClean="0">
                <a:latin typeface="Calibri" pitchFamily="34" charset="0"/>
                <a:ea typeface="Calibri" pitchFamily="34" charset="0"/>
                <a:cs typeface="Calibri" pitchFamily="34" charset="0"/>
              </a:rPr>
            </a:br>
            <a:r>
              <a:rPr lang="en-GB" sz="2800" dirty="0" smtClean="0">
                <a:latin typeface="Calibri" pitchFamily="34" charset="0"/>
                <a:ea typeface="Calibri" pitchFamily="34" charset="0"/>
                <a:cs typeface="Calibri" pitchFamily="34" charset="0"/>
              </a:rPr>
              <a:t>Data Summarization And Visualization</a:t>
            </a:r>
            <a:endParaRPr sz="2800" dirty="0" smtClean="0">
              <a:latin typeface="Calibri" pitchFamily="34" charset="0"/>
              <a:ea typeface="Calibri" pitchFamily="34" charset="0"/>
              <a:cs typeface="Calibri" pitchFamily="34" charset="0"/>
            </a:endParaRPr>
          </a:p>
          <a:p>
            <a:pPr marL="0" lvl="0" indent="0" algn="ctr" rtl="0">
              <a:spcBef>
                <a:spcPts val="0"/>
              </a:spcBef>
              <a:spcAft>
                <a:spcPts val="0"/>
              </a:spcAft>
              <a:buNone/>
            </a:pPr>
            <a:r>
              <a:rPr lang="en-GB" sz="3100" dirty="0" smtClean="0">
                <a:latin typeface="Calibri" pitchFamily="34" charset="0"/>
                <a:ea typeface="Calibri" pitchFamily="34" charset="0"/>
                <a:cs typeface="Calibri" pitchFamily="34" charset="0"/>
              </a:rPr>
              <a:t> </a:t>
            </a:r>
            <a:r>
              <a:rPr lang="en-GB" sz="3100" dirty="0" err="1" smtClean="0">
                <a:latin typeface="Calibri" pitchFamily="34" charset="0"/>
                <a:ea typeface="Calibri" pitchFamily="34" charset="0"/>
                <a:cs typeface="Calibri" pitchFamily="34" charset="0"/>
              </a:rPr>
              <a:t>Deepanshu</a:t>
            </a:r>
            <a:r>
              <a:rPr lang="en-GB" sz="3100" dirty="0" smtClean="0">
                <a:latin typeface="Calibri" pitchFamily="34" charset="0"/>
                <a:ea typeface="Calibri" pitchFamily="34" charset="0"/>
                <a:cs typeface="Calibri" pitchFamily="34" charset="0"/>
              </a:rPr>
              <a:t> Sharma</a:t>
            </a:r>
            <a:endParaRPr sz="3100" dirty="0">
              <a:latin typeface="Calibri" pitchFamily="34" charset="0"/>
              <a:ea typeface="Calibri" pitchFamily="34" charset="0"/>
              <a:cs typeface="Calibri" pitchFamily="34" charset="0"/>
            </a:endParaRPr>
          </a:p>
        </p:txBody>
      </p:sp>
      <p:pic>
        <p:nvPicPr>
          <p:cNvPr id="65" name="Google Shape;65;p13"/>
          <p:cNvPicPr preferRelativeResize="0"/>
          <p:nvPr/>
        </p:nvPicPr>
        <p:blipFill rotWithShape="1">
          <a:blip r:embed="rId3">
            <a:alphaModFix/>
          </a:blip>
          <a:srcRect t="14059" r="50636"/>
          <a:stretch/>
        </p:blipFill>
        <p:spPr>
          <a:xfrm>
            <a:off x="2791200" y="2571750"/>
            <a:ext cx="3561598" cy="2593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normAutofit/>
          </a:bodyPr>
          <a:lstStyle/>
          <a:p>
            <a:r>
              <a:rPr lang="en-US" sz="2800" dirty="0" smtClean="0">
                <a:latin typeface="Calibri" pitchFamily="34" charset="0"/>
                <a:ea typeface="Calibri" pitchFamily="34" charset="0"/>
                <a:cs typeface="Calibri" pitchFamily="34" charset="0"/>
              </a:rPr>
              <a:t>Data Overview</a:t>
            </a:r>
            <a:endParaRPr lang="en-US" sz="2800" dirty="0">
              <a:latin typeface="Calibri" pitchFamily="34" charset="0"/>
              <a:ea typeface="Calibri" pitchFamily="34" charset="0"/>
              <a:cs typeface="Calibri" pitchFamily="34" charset="0"/>
            </a:endParaRPr>
          </a:p>
        </p:txBody>
      </p:sp>
      <p:sp>
        <p:nvSpPr>
          <p:cNvPr id="4" name="Subtitle 3"/>
          <p:cNvSpPr>
            <a:spLocks noGrp="1"/>
          </p:cNvSpPr>
          <p:nvPr>
            <p:ph type="subTitle" idx="1"/>
          </p:nvPr>
        </p:nvSpPr>
        <p:spPr>
          <a:xfrm>
            <a:off x="242428" y="1267691"/>
            <a:ext cx="4242600" cy="1272969"/>
          </a:xfrm>
        </p:spPr>
        <p:txBody>
          <a:bodyPr>
            <a:normAutofit fontScale="32500" lnSpcReduction="20000"/>
          </a:bodyPr>
          <a:lstStyle/>
          <a:p>
            <a:pPr>
              <a:buFont typeface="Arial" pitchFamily="34" charset="0"/>
              <a:buChar char="•"/>
            </a:pPr>
            <a:r>
              <a:rPr lang="en-US" sz="4900" dirty="0">
                <a:latin typeface="Calibri" pitchFamily="34" charset="0"/>
                <a:ea typeface="Calibri" pitchFamily="34" charset="0"/>
                <a:cs typeface="Calibri" pitchFamily="34" charset="0"/>
              </a:rPr>
              <a:t>15 countries with restaurant-level data</a:t>
            </a:r>
          </a:p>
          <a:p>
            <a:pPr>
              <a:buFont typeface="Arial" pitchFamily="34" charset="0"/>
              <a:buChar char="•"/>
            </a:pPr>
            <a:r>
              <a:rPr lang="en-US" sz="4900" dirty="0">
                <a:latin typeface="Calibri" pitchFamily="34" charset="0"/>
                <a:ea typeface="Calibri" pitchFamily="34" charset="0"/>
                <a:cs typeface="Calibri" pitchFamily="34" charset="0"/>
              </a:rPr>
              <a:t>Key attributes: cost, ratings, votes, delivery &amp; booking</a:t>
            </a:r>
          </a:p>
          <a:p>
            <a:pPr>
              <a:buFont typeface="Arial" pitchFamily="34" charset="0"/>
              <a:buChar char="•"/>
            </a:pPr>
            <a:r>
              <a:rPr lang="en-US" sz="4900" dirty="0">
                <a:latin typeface="Calibri" pitchFamily="34" charset="0"/>
                <a:ea typeface="Calibri" pitchFamily="34" charset="0"/>
                <a:cs typeface="Calibri" pitchFamily="34" charset="0"/>
              </a:rPr>
              <a:t>Currency standardized to INR</a:t>
            </a:r>
          </a:p>
          <a:p>
            <a:pPr>
              <a:buFont typeface="Arial" pitchFamily="34" charset="0"/>
              <a:buChar char="•"/>
            </a:pPr>
            <a:r>
              <a:rPr lang="en-US" sz="4900" dirty="0">
                <a:latin typeface="Calibri" pitchFamily="34" charset="0"/>
                <a:ea typeface="Calibri" pitchFamily="34" charset="0"/>
                <a:cs typeface="Calibri" pitchFamily="34" charset="0"/>
              </a:rPr>
              <a:t>Cleaned &amp; validated dataset</a:t>
            </a:r>
          </a:p>
          <a:p>
            <a:pPr>
              <a:buFont typeface="Arial" pitchFamily="34" charset="0"/>
              <a:buChar char="•"/>
            </a:pPr>
            <a:endParaRPr lang="en-US" dirty="0"/>
          </a:p>
        </p:txBody>
      </p:sp>
    </p:spTree>
    <p:extLst>
      <p:ext uri="{BB962C8B-B14F-4D97-AF65-F5344CB8AC3E}">
        <p14:creationId xmlns:p14="http://schemas.microsoft.com/office/powerpoint/2010/main" val="2808678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pic>
        <p:nvPicPr>
          <p:cNvPr id="70" name="Google Shape;70;p14"/>
          <p:cNvPicPr preferRelativeResize="0"/>
          <p:nvPr/>
        </p:nvPicPr>
        <p:blipFill>
          <a:blip r:embed="rId3">
            <a:alphaModFix/>
          </a:blip>
          <a:stretch>
            <a:fillRect/>
          </a:stretch>
        </p:blipFill>
        <p:spPr>
          <a:xfrm>
            <a:off x="1128725" y="698300"/>
            <a:ext cx="3365551" cy="2083975"/>
          </a:xfrm>
          <a:prstGeom prst="rect">
            <a:avLst/>
          </a:prstGeom>
          <a:noFill/>
          <a:ln>
            <a:noFill/>
          </a:ln>
        </p:spPr>
      </p:pic>
      <p:sp>
        <p:nvSpPr>
          <p:cNvPr id="71" name="Google Shape;71;p14"/>
          <p:cNvSpPr txBox="1"/>
          <p:nvPr/>
        </p:nvSpPr>
        <p:spPr>
          <a:xfrm>
            <a:off x="1023750" y="3046725"/>
            <a:ext cx="3753900" cy="12387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GB" sz="1200" dirty="0">
                <a:solidFill>
                  <a:schemeClr val="dk1"/>
                </a:solidFill>
                <a:latin typeface="Calibri" pitchFamily="34" charset="0"/>
                <a:ea typeface="Calibri" pitchFamily="34" charset="0"/>
                <a:cs typeface="Calibri" pitchFamily="34" charset="0"/>
                <a:sym typeface="Roboto"/>
              </a:rPr>
              <a:t>Around 2008, people in Delhi were fed up with manual searching of delivery menus of different restaurants around them. </a:t>
            </a:r>
            <a:r>
              <a:rPr lang="en-GB" sz="1200" dirty="0" err="1">
                <a:solidFill>
                  <a:schemeClr val="dk1"/>
                </a:solidFill>
                <a:latin typeface="Calibri" pitchFamily="34" charset="0"/>
                <a:ea typeface="Calibri" pitchFamily="34" charset="0"/>
                <a:cs typeface="Calibri" pitchFamily="34" charset="0"/>
                <a:sym typeface="Roboto"/>
              </a:rPr>
              <a:t>Deepinder</a:t>
            </a:r>
            <a:r>
              <a:rPr lang="en-GB" sz="1200" dirty="0">
                <a:solidFill>
                  <a:schemeClr val="dk1"/>
                </a:solidFill>
                <a:latin typeface="Calibri" pitchFamily="34" charset="0"/>
                <a:ea typeface="Calibri" pitchFamily="34" charset="0"/>
                <a:cs typeface="Calibri" pitchFamily="34" charset="0"/>
                <a:sym typeface="Roboto"/>
              </a:rPr>
              <a:t> </a:t>
            </a:r>
            <a:r>
              <a:rPr lang="en-GB" sz="1200" dirty="0" err="1">
                <a:solidFill>
                  <a:schemeClr val="dk1"/>
                </a:solidFill>
                <a:latin typeface="Calibri" pitchFamily="34" charset="0"/>
                <a:ea typeface="Calibri" pitchFamily="34" charset="0"/>
                <a:cs typeface="Calibri" pitchFamily="34" charset="0"/>
                <a:sym typeface="Roboto"/>
              </a:rPr>
              <a:t>Goyal</a:t>
            </a:r>
            <a:r>
              <a:rPr lang="en-GB" sz="1200" dirty="0">
                <a:solidFill>
                  <a:schemeClr val="dk1"/>
                </a:solidFill>
                <a:latin typeface="Calibri" pitchFamily="34" charset="0"/>
                <a:ea typeface="Calibri" pitchFamily="34" charset="0"/>
                <a:cs typeface="Calibri" pitchFamily="34" charset="0"/>
                <a:sym typeface="Roboto"/>
              </a:rPr>
              <a:t> and </a:t>
            </a:r>
            <a:r>
              <a:rPr lang="en-GB" sz="1200" dirty="0" err="1">
                <a:solidFill>
                  <a:schemeClr val="dk1"/>
                </a:solidFill>
                <a:latin typeface="Calibri" pitchFamily="34" charset="0"/>
                <a:ea typeface="Calibri" pitchFamily="34" charset="0"/>
                <a:cs typeface="Calibri" pitchFamily="34" charset="0"/>
                <a:sym typeface="Roboto"/>
              </a:rPr>
              <a:t>Pankaj</a:t>
            </a:r>
            <a:r>
              <a:rPr lang="en-GB" sz="1200" dirty="0">
                <a:solidFill>
                  <a:schemeClr val="dk1"/>
                </a:solidFill>
                <a:latin typeface="Calibri" pitchFamily="34" charset="0"/>
                <a:ea typeface="Calibri" pitchFamily="34" charset="0"/>
                <a:cs typeface="Calibri" pitchFamily="34" charset="0"/>
                <a:sym typeface="Roboto"/>
              </a:rPr>
              <a:t> </a:t>
            </a:r>
            <a:r>
              <a:rPr lang="en-GB" sz="1200" dirty="0" err="1">
                <a:solidFill>
                  <a:schemeClr val="dk1"/>
                </a:solidFill>
                <a:latin typeface="Calibri" pitchFamily="34" charset="0"/>
                <a:ea typeface="Calibri" pitchFamily="34" charset="0"/>
                <a:cs typeface="Calibri" pitchFamily="34" charset="0"/>
                <a:sym typeface="Roboto"/>
              </a:rPr>
              <a:t>Chaddah</a:t>
            </a:r>
            <a:r>
              <a:rPr lang="en-GB" sz="1200" dirty="0">
                <a:solidFill>
                  <a:schemeClr val="dk1"/>
                </a:solidFill>
                <a:latin typeface="Calibri" pitchFamily="34" charset="0"/>
                <a:ea typeface="Calibri" pitchFamily="34" charset="0"/>
                <a:cs typeface="Calibri" pitchFamily="34" charset="0"/>
                <a:sym typeface="Roboto"/>
              </a:rPr>
              <a:t>, the founders of </a:t>
            </a:r>
            <a:r>
              <a:rPr lang="en-GB" sz="1200" dirty="0" err="1">
                <a:solidFill>
                  <a:schemeClr val="dk1"/>
                </a:solidFill>
                <a:latin typeface="Calibri" pitchFamily="34" charset="0"/>
                <a:ea typeface="Calibri" pitchFamily="34" charset="0"/>
                <a:cs typeface="Calibri" pitchFamily="34" charset="0"/>
                <a:sym typeface="Roboto"/>
              </a:rPr>
              <a:t>Zomato</a:t>
            </a:r>
            <a:r>
              <a:rPr lang="en-GB" sz="1200" dirty="0">
                <a:solidFill>
                  <a:schemeClr val="dk1"/>
                </a:solidFill>
                <a:latin typeface="Calibri" pitchFamily="34" charset="0"/>
                <a:ea typeface="Calibri" pitchFamily="34" charset="0"/>
                <a:cs typeface="Calibri" pitchFamily="34" charset="0"/>
                <a:sym typeface="Roboto"/>
              </a:rPr>
              <a:t> made the most of this opportunity by launching a food directory service. They called it </a:t>
            </a:r>
            <a:r>
              <a:rPr lang="en-GB" sz="1200" dirty="0" err="1">
                <a:solidFill>
                  <a:schemeClr val="dk1"/>
                </a:solidFill>
                <a:latin typeface="Calibri" pitchFamily="34" charset="0"/>
                <a:ea typeface="Calibri" pitchFamily="34" charset="0"/>
                <a:cs typeface="Calibri" pitchFamily="34" charset="0"/>
                <a:sym typeface="Roboto"/>
              </a:rPr>
              <a:t>FoodieBay</a:t>
            </a:r>
            <a:r>
              <a:rPr lang="en-GB" sz="1200" dirty="0">
                <a:solidFill>
                  <a:schemeClr val="dk1"/>
                </a:solidFill>
                <a:latin typeface="Calibri" pitchFamily="34" charset="0"/>
                <a:ea typeface="Calibri" pitchFamily="34" charset="0"/>
                <a:cs typeface="Calibri" pitchFamily="34" charset="0"/>
                <a:sym typeface="Roboto"/>
              </a:rPr>
              <a:t>. In just 9 </a:t>
            </a:r>
            <a:r>
              <a:rPr lang="en-GB" sz="1200" dirty="0" err="1">
                <a:solidFill>
                  <a:schemeClr val="dk1"/>
                </a:solidFill>
                <a:latin typeface="Calibri" pitchFamily="34" charset="0"/>
                <a:ea typeface="Calibri" pitchFamily="34" charset="0"/>
                <a:cs typeface="Calibri" pitchFamily="34" charset="0"/>
                <a:sym typeface="Roboto"/>
              </a:rPr>
              <a:t>mthm</a:t>
            </a:r>
            <a:r>
              <a:rPr lang="en-GB" sz="1200" dirty="0">
                <a:solidFill>
                  <a:schemeClr val="dk1"/>
                </a:solidFill>
                <a:latin typeface="Calibri" pitchFamily="34" charset="0"/>
                <a:ea typeface="Calibri" pitchFamily="34" charset="0"/>
                <a:cs typeface="Calibri" pitchFamily="34" charset="0"/>
                <a:sym typeface="Roboto"/>
              </a:rPr>
              <a:t>, it became the largest and a popular restaurant directory in all of Delhi.</a:t>
            </a:r>
            <a:endParaRPr sz="1200" dirty="0">
              <a:solidFill>
                <a:schemeClr val="dk1"/>
              </a:solidFill>
              <a:latin typeface="Calibri" pitchFamily="34" charset="0"/>
              <a:ea typeface="Calibri" pitchFamily="34" charset="0"/>
              <a:cs typeface="Calibri" pitchFamily="34" charset="0"/>
              <a:sym typeface="Roboto"/>
            </a:endParaRPr>
          </a:p>
        </p:txBody>
      </p:sp>
      <p:pic>
        <p:nvPicPr>
          <p:cNvPr id="72" name="Google Shape;72;p14"/>
          <p:cNvPicPr preferRelativeResize="0"/>
          <p:nvPr/>
        </p:nvPicPr>
        <p:blipFill>
          <a:blip r:embed="rId4">
            <a:alphaModFix/>
          </a:blip>
          <a:stretch>
            <a:fillRect/>
          </a:stretch>
        </p:blipFill>
        <p:spPr>
          <a:xfrm>
            <a:off x="5948375" y="698300"/>
            <a:ext cx="2461750" cy="2083975"/>
          </a:xfrm>
          <a:prstGeom prst="rect">
            <a:avLst/>
          </a:prstGeom>
          <a:noFill/>
          <a:ln>
            <a:noFill/>
          </a:ln>
        </p:spPr>
      </p:pic>
      <p:sp>
        <p:nvSpPr>
          <p:cNvPr id="73" name="Google Shape;73;p14"/>
          <p:cNvSpPr txBox="1"/>
          <p:nvPr/>
        </p:nvSpPr>
        <p:spPr>
          <a:xfrm>
            <a:off x="6027025" y="3172725"/>
            <a:ext cx="2813700" cy="13332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GB" sz="1200" dirty="0">
                <a:solidFill>
                  <a:schemeClr val="dk2"/>
                </a:solidFill>
                <a:latin typeface="Calibri" pitchFamily="34" charset="0"/>
                <a:ea typeface="Calibri" pitchFamily="34" charset="0"/>
                <a:cs typeface="Calibri" pitchFamily="34" charset="0"/>
                <a:sym typeface="Roboto"/>
              </a:rPr>
              <a:t>I</a:t>
            </a:r>
            <a:r>
              <a:rPr lang="en-GB" sz="1200" dirty="0">
                <a:solidFill>
                  <a:schemeClr val="dk1"/>
                </a:solidFill>
                <a:latin typeface="Calibri" pitchFamily="34" charset="0"/>
                <a:ea typeface="Calibri" pitchFamily="34" charset="0"/>
                <a:cs typeface="Calibri" pitchFamily="34" charset="0"/>
                <a:sym typeface="Roboto"/>
              </a:rPr>
              <a:t>t’s revenue grew from </a:t>
            </a:r>
            <a:r>
              <a:rPr lang="en-GB" sz="1200" dirty="0" err="1">
                <a:solidFill>
                  <a:schemeClr val="dk1"/>
                </a:solidFill>
                <a:latin typeface="Calibri" pitchFamily="34" charset="0"/>
                <a:ea typeface="Calibri" pitchFamily="34" charset="0"/>
                <a:cs typeface="Calibri" pitchFamily="34" charset="0"/>
                <a:sym typeface="Roboto"/>
              </a:rPr>
              <a:t>Rs</a:t>
            </a:r>
            <a:r>
              <a:rPr lang="en-GB" sz="1200" dirty="0">
                <a:solidFill>
                  <a:schemeClr val="dk1"/>
                </a:solidFill>
                <a:latin typeface="Calibri" pitchFamily="34" charset="0"/>
                <a:ea typeface="Calibri" pitchFamily="34" charset="0"/>
                <a:cs typeface="Calibri" pitchFamily="34" charset="0"/>
                <a:sym typeface="Roboto"/>
              </a:rPr>
              <a:t>. 1,300 cr. in FY 2019 to </a:t>
            </a:r>
            <a:r>
              <a:rPr lang="en-GB" sz="1200" dirty="0" err="1">
                <a:solidFill>
                  <a:schemeClr val="dk1"/>
                </a:solidFill>
                <a:latin typeface="Calibri" pitchFamily="34" charset="0"/>
                <a:ea typeface="Calibri" pitchFamily="34" charset="0"/>
                <a:cs typeface="Calibri" pitchFamily="34" charset="0"/>
                <a:sym typeface="Roboto"/>
              </a:rPr>
              <a:t>Rs</a:t>
            </a:r>
            <a:r>
              <a:rPr lang="en-GB" sz="1200" dirty="0">
                <a:solidFill>
                  <a:schemeClr val="dk1"/>
                </a:solidFill>
                <a:latin typeface="Calibri" pitchFamily="34" charset="0"/>
                <a:ea typeface="Calibri" pitchFamily="34" charset="0"/>
                <a:cs typeface="Calibri" pitchFamily="34" charset="0"/>
                <a:sym typeface="Roboto"/>
              </a:rPr>
              <a:t>. 2,800 cr. in FY 2020. It is already profitable at EBITDA level in the food delivery business. During Q2 2019, it was burning about </a:t>
            </a:r>
            <a:r>
              <a:rPr lang="en-GB" sz="1200" dirty="0" err="1">
                <a:solidFill>
                  <a:schemeClr val="dk1"/>
                </a:solidFill>
                <a:latin typeface="Calibri" pitchFamily="34" charset="0"/>
                <a:ea typeface="Calibri" pitchFamily="34" charset="0"/>
                <a:cs typeface="Calibri" pitchFamily="34" charset="0"/>
                <a:sym typeface="Roboto"/>
              </a:rPr>
              <a:t>Rs</a:t>
            </a:r>
            <a:r>
              <a:rPr lang="en-GB" sz="1200" dirty="0">
                <a:solidFill>
                  <a:schemeClr val="dk1"/>
                </a:solidFill>
                <a:latin typeface="Calibri" pitchFamily="34" charset="0"/>
                <a:ea typeface="Calibri" pitchFamily="34" charset="0"/>
                <a:cs typeface="Calibri" pitchFamily="34" charset="0"/>
                <a:sym typeface="Roboto"/>
              </a:rPr>
              <a:t>. 290 cr. every month</a:t>
            </a:r>
            <a:endParaRPr sz="1200" dirty="0">
              <a:solidFill>
                <a:schemeClr val="dk1"/>
              </a:solidFill>
              <a:latin typeface="Calibri" pitchFamily="34" charset="0"/>
              <a:ea typeface="Calibri" pitchFamily="34" charset="0"/>
              <a:cs typeface="Calibri" pitchFamily="34" charset="0"/>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graphicFrame>
        <p:nvGraphicFramePr>
          <p:cNvPr id="135" name="Google Shape;135;p24"/>
          <p:cNvGraphicFramePr/>
          <p:nvPr>
            <p:extLst>
              <p:ext uri="{D42A27DB-BD31-4B8C-83A1-F6EECF244321}">
                <p14:modId xmlns:p14="http://schemas.microsoft.com/office/powerpoint/2010/main" val="2399740297"/>
              </p:ext>
            </p:extLst>
          </p:nvPr>
        </p:nvGraphicFramePr>
        <p:xfrm>
          <a:off x="730827" y="1115290"/>
          <a:ext cx="6712528" cy="3489278"/>
        </p:xfrm>
        <a:graphic>
          <a:graphicData uri="http://schemas.openxmlformats.org/drawingml/2006/table">
            <a:tbl>
              <a:tblPr>
                <a:noFill/>
                <a:tableStyleId>{5B828CDD-8E2C-4306-B83F-5B825E94FB31}</a:tableStyleId>
              </a:tblPr>
              <a:tblGrid>
                <a:gridCol w="5578521"/>
                <a:gridCol w="1134007"/>
              </a:tblGrid>
              <a:tr h="277439">
                <a:tc>
                  <a:txBody>
                    <a:bodyPr/>
                    <a:lstStyle/>
                    <a:p>
                      <a:pPr marL="0" lvl="0" indent="0" algn="l" rtl="0">
                        <a:lnSpc>
                          <a:spcPct val="115000"/>
                        </a:lnSpc>
                        <a:spcBef>
                          <a:spcPts val="0"/>
                        </a:spcBef>
                        <a:spcAft>
                          <a:spcPts val="0"/>
                        </a:spcAft>
                        <a:buNone/>
                      </a:pPr>
                      <a:r>
                        <a:rPr lang="en-GB" sz="1100" dirty="0">
                          <a:latin typeface="Calibri"/>
                          <a:ea typeface="Calibri"/>
                          <a:cs typeface="Calibri"/>
                          <a:sym typeface="Calibri"/>
                        </a:rPr>
                        <a:t>Total no. of Tables</a:t>
                      </a:r>
                      <a:endParaRPr sz="1100" dirty="0">
                        <a:latin typeface="Calibri"/>
                        <a:ea typeface="Calibri"/>
                        <a:cs typeface="Calibri"/>
                        <a:sym typeface="Calibri"/>
                      </a:endParaRPr>
                    </a:p>
                  </a:txBody>
                  <a:tcPr marL="28575" marR="28575" marT="91425" marB="91425" anchor="b">
                    <a:lnL w="8650" cap="flat" cmpd="sng">
                      <a:solidFill>
                        <a:srgbClr val="000000"/>
                      </a:solidFill>
                      <a:prstDash val="solid"/>
                      <a:round/>
                      <a:headEnd type="none" w="sm" len="sm"/>
                      <a:tailEnd type="none" w="sm" len="sm"/>
                    </a:lnL>
                    <a:lnR w="8650" cap="flat" cmpd="sng">
                      <a:solidFill>
                        <a:srgbClr val="000000"/>
                      </a:solidFill>
                      <a:prstDash val="solid"/>
                      <a:round/>
                      <a:headEnd type="none" w="sm" len="sm"/>
                      <a:tailEnd type="none" w="sm" len="sm"/>
                    </a:lnR>
                    <a:lnT w="8650" cap="flat" cmpd="sng">
                      <a:solidFill>
                        <a:srgbClr val="000000"/>
                      </a:solidFill>
                      <a:prstDash val="solid"/>
                      <a:round/>
                      <a:headEnd type="none" w="sm" len="sm"/>
                      <a:tailEnd type="none" w="sm" len="sm"/>
                    </a:lnT>
                    <a:lnB w="8650" cap="flat" cmpd="sng">
                      <a:solidFill>
                        <a:srgbClr val="000000"/>
                      </a:solidFill>
                      <a:prstDash val="solid"/>
                      <a:round/>
                      <a:headEnd type="none" w="sm" len="sm"/>
                      <a:tailEnd type="none" w="sm" len="sm"/>
                    </a:lnB>
                    <a:solidFill>
                      <a:srgbClr val="B7E1CD"/>
                    </a:solidFill>
                  </a:tcPr>
                </a:tc>
                <a:tc>
                  <a:txBody>
                    <a:bodyPr/>
                    <a:lstStyle/>
                    <a:p>
                      <a:pPr marL="0" lvl="0" indent="0" algn="r" rtl="0">
                        <a:lnSpc>
                          <a:spcPct val="115000"/>
                        </a:lnSpc>
                        <a:spcBef>
                          <a:spcPts val="0"/>
                        </a:spcBef>
                        <a:spcAft>
                          <a:spcPts val="0"/>
                        </a:spcAft>
                        <a:buNone/>
                      </a:pPr>
                      <a:r>
                        <a:rPr lang="en-GB" sz="1100">
                          <a:latin typeface="Calibri"/>
                          <a:ea typeface="Calibri"/>
                          <a:cs typeface="Calibri"/>
                          <a:sym typeface="Calibri"/>
                        </a:rPr>
                        <a:t>2</a:t>
                      </a:r>
                      <a:endParaRPr sz="1100">
                        <a:latin typeface="Calibri"/>
                        <a:ea typeface="Calibri"/>
                        <a:cs typeface="Calibri"/>
                        <a:sym typeface="Calibri"/>
                      </a:endParaRPr>
                    </a:p>
                  </a:txBody>
                  <a:tcPr marL="28575" marR="28575" marT="91425" marB="91425" anchor="b">
                    <a:lnL w="8650" cap="flat" cmpd="sng">
                      <a:solidFill>
                        <a:srgbClr val="000000"/>
                      </a:solidFill>
                      <a:prstDash val="solid"/>
                      <a:round/>
                      <a:headEnd type="none" w="sm" len="sm"/>
                      <a:tailEnd type="none" w="sm" len="sm"/>
                    </a:lnL>
                    <a:lnR w="8650" cap="flat" cmpd="sng">
                      <a:solidFill>
                        <a:srgbClr val="000000"/>
                      </a:solidFill>
                      <a:prstDash val="solid"/>
                      <a:round/>
                      <a:headEnd type="none" w="sm" len="sm"/>
                      <a:tailEnd type="none" w="sm" len="sm"/>
                    </a:lnR>
                    <a:lnT w="8650" cap="flat" cmpd="sng">
                      <a:solidFill>
                        <a:srgbClr val="000000"/>
                      </a:solidFill>
                      <a:prstDash val="solid"/>
                      <a:round/>
                      <a:headEnd type="none" w="sm" len="sm"/>
                      <a:tailEnd type="none" w="sm" len="sm"/>
                    </a:lnT>
                    <a:lnB w="8650" cap="flat" cmpd="sng">
                      <a:solidFill>
                        <a:srgbClr val="000000"/>
                      </a:solidFill>
                      <a:prstDash val="solid"/>
                      <a:round/>
                      <a:headEnd type="none" w="sm" len="sm"/>
                      <a:tailEnd type="none" w="sm" len="sm"/>
                    </a:lnB>
                  </a:tcPr>
                </a:tc>
              </a:tr>
              <a:tr h="277439">
                <a:tc>
                  <a:txBody>
                    <a:bodyPr/>
                    <a:lstStyle/>
                    <a:p>
                      <a:pPr marL="0" lvl="0" indent="0" algn="l" rtl="0">
                        <a:lnSpc>
                          <a:spcPct val="115000"/>
                        </a:lnSpc>
                        <a:spcBef>
                          <a:spcPts val="0"/>
                        </a:spcBef>
                        <a:spcAft>
                          <a:spcPts val="0"/>
                        </a:spcAft>
                        <a:buNone/>
                      </a:pPr>
                      <a:r>
                        <a:rPr lang="en-GB" sz="1100" dirty="0">
                          <a:latin typeface="Calibri"/>
                          <a:ea typeface="Calibri"/>
                          <a:cs typeface="Calibri"/>
                          <a:sym typeface="Calibri"/>
                        </a:rPr>
                        <a:t>Total no. of Attributes</a:t>
                      </a:r>
                      <a:endParaRPr sz="1100" dirty="0">
                        <a:latin typeface="Calibri"/>
                        <a:ea typeface="Calibri"/>
                        <a:cs typeface="Calibri"/>
                        <a:sym typeface="Calibri"/>
                      </a:endParaRPr>
                    </a:p>
                  </a:txBody>
                  <a:tcPr marL="28575" marR="28575" marT="91425" marB="91425" anchor="b">
                    <a:lnL w="8650" cap="flat" cmpd="sng">
                      <a:solidFill>
                        <a:srgbClr val="000000"/>
                      </a:solidFill>
                      <a:prstDash val="solid"/>
                      <a:round/>
                      <a:headEnd type="none" w="sm" len="sm"/>
                      <a:tailEnd type="none" w="sm" len="sm"/>
                    </a:lnL>
                    <a:lnR w="8650" cap="flat" cmpd="sng">
                      <a:solidFill>
                        <a:srgbClr val="000000"/>
                      </a:solidFill>
                      <a:prstDash val="solid"/>
                      <a:round/>
                      <a:headEnd type="none" w="sm" len="sm"/>
                      <a:tailEnd type="none" w="sm" len="sm"/>
                    </a:lnR>
                    <a:lnT w="8650" cap="flat" cmpd="sng">
                      <a:solidFill>
                        <a:srgbClr val="000000"/>
                      </a:solidFill>
                      <a:prstDash val="solid"/>
                      <a:round/>
                      <a:headEnd type="none" w="sm" len="sm"/>
                      <a:tailEnd type="none" w="sm" len="sm"/>
                    </a:lnT>
                    <a:lnB w="8650" cap="flat" cmpd="sng">
                      <a:solidFill>
                        <a:srgbClr val="000000"/>
                      </a:solidFill>
                      <a:prstDash val="solid"/>
                      <a:round/>
                      <a:headEnd type="none" w="sm" len="sm"/>
                      <a:tailEnd type="none" w="sm" len="sm"/>
                    </a:lnB>
                    <a:solidFill>
                      <a:srgbClr val="B7E1CD"/>
                    </a:solidFill>
                  </a:tcPr>
                </a:tc>
                <a:tc>
                  <a:txBody>
                    <a:bodyPr/>
                    <a:lstStyle/>
                    <a:p>
                      <a:pPr marL="0" lvl="0" indent="0" algn="r" rtl="0">
                        <a:lnSpc>
                          <a:spcPct val="115000"/>
                        </a:lnSpc>
                        <a:spcBef>
                          <a:spcPts val="0"/>
                        </a:spcBef>
                        <a:spcAft>
                          <a:spcPts val="0"/>
                        </a:spcAft>
                        <a:buNone/>
                      </a:pPr>
                      <a:r>
                        <a:rPr lang="en-GB" sz="1100">
                          <a:latin typeface="Calibri"/>
                          <a:ea typeface="Calibri"/>
                          <a:cs typeface="Calibri"/>
                          <a:sym typeface="Calibri"/>
                        </a:rPr>
                        <a:t>22</a:t>
                      </a:r>
                      <a:endParaRPr sz="1100">
                        <a:latin typeface="Calibri"/>
                        <a:ea typeface="Calibri"/>
                        <a:cs typeface="Calibri"/>
                        <a:sym typeface="Calibri"/>
                      </a:endParaRPr>
                    </a:p>
                  </a:txBody>
                  <a:tcPr marL="28575" marR="28575" marT="91425" marB="91425" anchor="b">
                    <a:lnL w="8650" cap="flat" cmpd="sng">
                      <a:solidFill>
                        <a:srgbClr val="000000"/>
                      </a:solidFill>
                      <a:prstDash val="solid"/>
                      <a:round/>
                      <a:headEnd type="none" w="sm" len="sm"/>
                      <a:tailEnd type="none" w="sm" len="sm"/>
                    </a:lnL>
                    <a:lnR w="8650" cap="flat" cmpd="sng">
                      <a:solidFill>
                        <a:srgbClr val="000000"/>
                      </a:solidFill>
                      <a:prstDash val="solid"/>
                      <a:round/>
                      <a:headEnd type="none" w="sm" len="sm"/>
                      <a:tailEnd type="none" w="sm" len="sm"/>
                    </a:lnR>
                    <a:lnT w="8650" cap="flat" cmpd="sng">
                      <a:solidFill>
                        <a:srgbClr val="000000"/>
                      </a:solidFill>
                      <a:prstDash val="solid"/>
                      <a:round/>
                      <a:headEnd type="none" w="sm" len="sm"/>
                      <a:tailEnd type="none" w="sm" len="sm"/>
                    </a:lnT>
                    <a:lnB w="8650" cap="flat" cmpd="sng">
                      <a:solidFill>
                        <a:srgbClr val="000000"/>
                      </a:solidFill>
                      <a:prstDash val="solid"/>
                      <a:round/>
                      <a:headEnd type="none" w="sm" len="sm"/>
                      <a:tailEnd type="none" w="sm" len="sm"/>
                    </a:lnB>
                  </a:tcPr>
                </a:tc>
              </a:tr>
              <a:tr h="277439">
                <a:tc>
                  <a:txBody>
                    <a:bodyPr/>
                    <a:lstStyle/>
                    <a:p>
                      <a:pPr marL="0" lvl="0" indent="0" algn="l" rtl="0">
                        <a:lnSpc>
                          <a:spcPct val="115000"/>
                        </a:lnSpc>
                        <a:spcBef>
                          <a:spcPts val="0"/>
                        </a:spcBef>
                        <a:spcAft>
                          <a:spcPts val="0"/>
                        </a:spcAft>
                        <a:buNone/>
                      </a:pPr>
                      <a:r>
                        <a:rPr lang="en-GB" sz="1100" dirty="0">
                          <a:latin typeface="Calibri"/>
                          <a:ea typeface="Calibri"/>
                          <a:cs typeface="Calibri"/>
                          <a:sym typeface="Calibri"/>
                        </a:rPr>
                        <a:t>categorical columns</a:t>
                      </a:r>
                      <a:endParaRPr sz="1100" dirty="0">
                        <a:latin typeface="Calibri"/>
                        <a:ea typeface="Calibri"/>
                        <a:cs typeface="Calibri"/>
                        <a:sym typeface="Calibri"/>
                      </a:endParaRPr>
                    </a:p>
                  </a:txBody>
                  <a:tcPr marL="28575" marR="28575" marT="91425" marB="91425" anchor="b">
                    <a:lnL w="8650" cap="flat" cmpd="sng">
                      <a:solidFill>
                        <a:srgbClr val="000000"/>
                      </a:solidFill>
                      <a:prstDash val="solid"/>
                      <a:round/>
                      <a:headEnd type="none" w="sm" len="sm"/>
                      <a:tailEnd type="none" w="sm" len="sm"/>
                    </a:lnL>
                    <a:lnR w="8650" cap="flat" cmpd="sng">
                      <a:solidFill>
                        <a:srgbClr val="000000"/>
                      </a:solidFill>
                      <a:prstDash val="solid"/>
                      <a:round/>
                      <a:headEnd type="none" w="sm" len="sm"/>
                      <a:tailEnd type="none" w="sm" len="sm"/>
                    </a:lnR>
                    <a:lnT w="8650" cap="flat" cmpd="sng">
                      <a:solidFill>
                        <a:srgbClr val="000000"/>
                      </a:solidFill>
                      <a:prstDash val="solid"/>
                      <a:round/>
                      <a:headEnd type="none" w="sm" len="sm"/>
                      <a:tailEnd type="none" w="sm" len="sm"/>
                    </a:lnT>
                    <a:lnB w="8650" cap="flat" cmpd="sng">
                      <a:solidFill>
                        <a:srgbClr val="000000"/>
                      </a:solidFill>
                      <a:prstDash val="solid"/>
                      <a:round/>
                      <a:headEnd type="none" w="sm" len="sm"/>
                      <a:tailEnd type="none" w="sm" len="sm"/>
                    </a:lnB>
                    <a:solidFill>
                      <a:srgbClr val="B7E1CD"/>
                    </a:solidFill>
                  </a:tcPr>
                </a:tc>
                <a:tc>
                  <a:txBody>
                    <a:bodyPr/>
                    <a:lstStyle/>
                    <a:p>
                      <a:pPr marL="0" lvl="0" indent="0" algn="r" rtl="0">
                        <a:lnSpc>
                          <a:spcPct val="115000"/>
                        </a:lnSpc>
                        <a:spcBef>
                          <a:spcPts val="0"/>
                        </a:spcBef>
                        <a:spcAft>
                          <a:spcPts val="0"/>
                        </a:spcAft>
                        <a:buNone/>
                      </a:pPr>
                      <a:r>
                        <a:rPr lang="en-GB" sz="1100">
                          <a:latin typeface="Calibri"/>
                          <a:ea typeface="Calibri"/>
                          <a:cs typeface="Calibri"/>
                          <a:sym typeface="Calibri"/>
                        </a:rPr>
                        <a:t>14</a:t>
                      </a:r>
                      <a:endParaRPr sz="1100">
                        <a:latin typeface="Calibri"/>
                        <a:ea typeface="Calibri"/>
                        <a:cs typeface="Calibri"/>
                        <a:sym typeface="Calibri"/>
                      </a:endParaRPr>
                    </a:p>
                  </a:txBody>
                  <a:tcPr marL="28575" marR="28575" marT="91425" marB="91425" anchor="b">
                    <a:lnL w="8650" cap="flat" cmpd="sng">
                      <a:solidFill>
                        <a:srgbClr val="000000"/>
                      </a:solidFill>
                      <a:prstDash val="solid"/>
                      <a:round/>
                      <a:headEnd type="none" w="sm" len="sm"/>
                      <a:tailEnd type="none" w="sm" len="sm"/>
                    </a:lnL>
                    <a:lnR w="8650" cap="flat" cmpd="sng">
                      <a:solidFill>
                        <a:srgbClr val="000000"/>
                      </a:solidFill>
                      <a:prstDash val="solid"/>
                      <a:round/>
                      <a:headEnd type="none" w="sm" len="sm"/>
                      <a:tailEnd type="none" w="sm" len="sm"/>
                    </a:lnR>
                    <a:lnT w="8650" cap="flat" cmpd="sng">
                      <a:solidFill>
                        <a:srgbClr val="000000"/>
                      </a:solidFill>
                      <a:prstDash val="solid"/>
                      <a:round/>
                      <a:headEnd type="none" w="sm" len="sm"/>
                      <a:tailEnd type="none" w="sm" len="sm"/>
                    </a:lnT>
                    <a:lnB w="8650" cap="flat" cmpd="sng">
                      <a:solidFill>
                        <a:srgbClr val="000000"/>
                      </a:solidFill>
                      <a:prstDash val="solid"/>
                      <a:round/>
                      <a:headEnd type="none" w="sm" len="sm"/>
                      <a:tailEnd type="none" w="sm" len="sm"/>
                    </a:lnB>
                  </a:tcPr>
                </a:tc>
              </a:tr>
              <a:tr h="277439">
                <a:tc>
                  <a:txBody>
                    <a:bodyPr/>
                    <a:lstStyle/>
                    <a:p>
                      <a:pPr marL="0" lvl="0" indent="0" algn="l" rtl="0">
                        <a:lnSpc>
                          <a:spcPct val="115000"/>
                        </a:lnSpc>
                        <a:spcBef>
                          <a:spcPts val="0"/>
                        </a:spcBef>
                        <a:spcAft>
                          <a:spcPts val="0"/>
                        </a:spcAft>
                        <a:buNone/>
                      </a:pPr>
                      <a:r>
                        <a:rPr lang="en-GB" sz="1100" dirty="0">
                          <a:latin typeface="Calibri"/>
                          <a:ea typeface="Calibri"/>
                          <a:cs typeface="Calibri"/>
                          <a:sym typeface="Calibri"/>
                        </a:rPr>
                        <a:t>Total no. of Restaurants in price range of 4</a:t>
                      </a:r>
                      <a:endParaRPr sz="1100" dirty="0">
                        <a:latin typeface="Calibri"/>
                        <a:ea typeface="Calibri"/>
                        <a:cs typeface="Calibri"/>
                        <a:sym typeface="Calibri"/>
                      </a:endParaRPr>
                    </a:p>
                  </a:txBody>
                  <a:tcPr marL="28575" marR="28575" marT="91425" marB="91425" anchor="b">
                    <a:lnL w="8650" cap="flat" cmpd="sng">
                      <a:solidFill>
                        <a:srgbClr val="000000"/>
                      </a:solidFill>
                      <a:prstDash val="solid"/>
                      <a:round/>
                      <a:headEnd type="none" w="sm" len="sm"/>
                      <a:tailEnd type="none" w="sm" len="sm"/>
                    </a:lnL>
                    <a:lnR w="8650" cap="flat" cmpd="sng">
                      <a:solidFill>
                        <a:srgbClr val="000000"/>
                      </a:solidFill>
                      <a:prstDash val="solid"/>
                      <a:round/>
                      <a:headEnd type="none" w="sm" len="sm"/>
                      <a:tailEnd type="none" w="sm" len="sm"/>
                    </a:lnR>
                    <a:lnT w="8650" cap="flat" cmpd="sng">
                      <a:solidFill>
                        <a:srgbClr val="000000"/>
                      </a:solidFill>
                      <a:prstDash val="solid"/>
                      <a:round/>
                      <a:headEnd type="none" w="sm" len="sm"/>
                      <a:tailEnd type="none" w="sm" len="sm"/>
                    </a:lnT>
                    <a:lnB w="8650" cap="flat" cmpd="sng">
                      <a:solidFill>
                        <a:srgbClr val="000000"/>
                      </a:solidFill>
                      <a:prstDash val="solid"/>
                      <a:round/>
                      <a:headEnd type="none" w="sm" len="sm"/>
                      <a:tailEnd type="none" w="sm" len="sm"/>
                    </a:lnB>
                    <a:solidFill>
                      <a:srgbClr val="B7E1CD"/>
                    </a:solidFill>
                  </a:tcPr>
                </a:tc>
                <a:tc>
                  <a:txBody>
                    <a:bodyPr/>
                    <a:lstStyle/>
                    <a:p>
                      <a:pPr marL="0" lvl="0" indent="0" algn="r" rtl="0">
                        <a:lnSpc>
                          <a:spcPct val="115000"/>
                        </a:lnSpc>
                        <a:spcBef>
                          <a:spcPts val="0"/>
                        </a:spcBef>
                        <a:spcAft>
                          <a:spcPts val="0"/>
                        </a:spcAft>
                        <a:buNone/>
                      </a:pPr>
                      <a:r>
                        <a:rPr lang="en-GB" sz="1100">
                          <a:latin typeface="Calibri"/>
                          <a:ea typeface="Calibri"/>
                          <a:cs typeface="Calibri"/>
                          <a:sym typeface="Calibri"/>
                        </a:rPr>
                        <a:t>388</a:t>
                      </a:r>
                      <a:endParaRPr sz="1100">
                        <a:latin typeface="Calibri"/>
                        <a:ea typeface="Calibri"/>
                        <a:cs typeface="Calibri"/>
                        <a:sym typeface="Calibri"/>
                      </a:endParaRPr>
                    </a:p>
                  </a:txBody>
                  <a:tcPr marL="28575" marR="28575" marT="91425" marB="91425" anchor="b">
                    <a:lnL w="8650" cap="flat" cmpd="sng">
                      <a:solidFill>
                        <a:srgbClr val="000000"/>
                      </a:solidFill>
                      <a:prstDash val="solid"/>
                      <a:round/>
                      <a:headEnd type="none" w="sm" len="sm"/>
                      <a:tailEnd type="none" w="sm" len="sm"/>
                    </a:lnL>
                    <a:lnR w="8650" cap="flat" cmpd="sng">
                      <a:solidFill>
                        <a:srgbClr val="000000"/>
                      </a:solidFill>
                      <a:prstDash val="solid"/>
                      <a:round/>
                      <a:headEnd type="none" w="sm" len="sm"/>
                      <a:tailEnd type="none" w="sm" len="sm"/>
                    </a:lnR>
                    <a:lnT w="8650" cap="flat" cmpd="sng">
                      <a:solidFill>
                        <a:srgbClr val="000000"/>
                      </a:solidFill>
                      <a:prstDash val="solid"/>
                      <a:round/>
                      <a:headEnd type="none" w="sm" len="sm"/>
                      <a:tailEnd type="none" w="sm" len="sm"/>
                    </a:lnT>
                    <a:lnB w="8650" cap="flat" cmpd="sng">
                      <a:solidFill>
                        <a:srgbClr val="000000"/>
                      </a:solidFill>
                      <a:prstDash val="solid"/>
                      <a:round/>
                      <a:headEnd type="none" w="sm" len="sm"/>
                      <a:tailEnd type="none" w="sm" len="sm"/>
                    </a:lnB>
                  </a:tcPr>
                </a:tc>
              </a:tr>
              <a:tr h="691500">
                <a:tc>
                  <a:txBody>
                    <a:bodyPr/>
                    <a:lstStyle/>
                    <a:p>
                      <a:pPr marL="0" lvl="0" indent="0" algn="l" rtl="0">
                        <a:lnSpc>
                          <a:spcPct val="115000"/>
                        </a:lnSpc>
                        <a:spcBef>
                          <a:spcPts val="0"/>
                        </a:spcBef>
                        <a:spcAft>
                          <a:spcPts val="0"/>
                        </a:spcAft>
                        <a:buNone/>
                      </a:pPr>
                      <a:r>
                        <a:rPr lang="en-GB" sz="1100" dirty="0">
                          <a:latin typeface="Calibri"/>
                          <a:ea typeface="Calibri"/>
                          <a:cs typeface="Calibri"/>
                          <a:sym typeface="Calibri"/>
                        </a:rPr>
                        <a:t>Average rating for all restaurants that have price range less than 4 and provide online delivery</a:t>
                      </a:r>
                      <a:endParaRPr sz="1100" dirty="0">
                        <a:latin typeface="Calibri"/>
                        <a:ea typeface="Calibri"/>
                        <a:cs typeface="Calibri"/>
                        <a:sym typeface="Calibri"/>
                      </a:endParaRPr>
                    </a:p>
                  </a:txBody>
                  <a:tcPr marL="28575" marR="28575" marT="91425" marB="91425" anchor="b">
                    <a:lnL w="8650" cap="flat" cmpd="sng">
                      <a:solidFill>
                        <a:srgbClr val="000000"/>
                      </a:solidFill>
                      <a:prstDash val="solid"/>
                      <a:round/>
                      <a:headEnd type="none" w="sm" len="sm"/>
                      <a:tailEnd type="none" w="sm" len="sm"/>
                    </a:lnL>
                    <a:lnR w="8650" cap="flat" cmpd="sng">
                      <a:solidFill>
                        <a:srgbClr val="000000"/>
                      </a:solidFill>
                      <a:prstDash val="solid"/>
                      <a:round/>
                      <a:headEnd type="none" w="sm" len="sm"/>
                      <a:tailEnd type="none" w="sm" len="sm"/>
                    </a:lnR>
                    <a:lnT w="8650" cap="flat" cmpd="sng">
                      <a:solidFill>
                        <a:srgbClr val="000000"/>
                      </a:solidFill>
                      <a:prstDash val="solid"/>
                      <a:round/>
                      <a:headEnd type="none" w="sm" len="sm"/>
                      <a:tailEnd type="none" w="sm" len="sm"/>
                    </a:lnT>
                    <a:lnB w="8650" cap="flat" cmpd="sng">
                      <a:solidFill>
                        <a:srgbClr val="000000"/>
                      </a:solidFill>
                      <a:prstDash val="solid"/>
                      <a:round/>
                      <a:headEnd type="none" w="sm" len="sm"/>
                      <a:tailEnd type="none" w="sm" len="sm"/>
                    </a:lnB>
                    <a:solidFill>
                      <a:srgbClr val="B7E1CD"/>
                    </a:solidFill>
                  </a:tcPr>
                </a:tc>
                <a:tc>
                  <a:txBody>
                    <a:bodyPr/>
                    <a:lstStyle/>
                    <a:p>
                      <a:pPr marL="0" lvl="0" indent="0" algn="r" rtl="0">
                        <a:lnSpc>
                          <a:spcPct val="115000"/>
                        </a:lnSpc>
                        <a:spcBef>
                          <a:spcPts val="0"/>
                        </a:spcBef>
                        <a:spcAft>
                          <a:spcPts val="0"/>
                        </a:spcAft>
                        <a:buNone/>
                      </a:pPr>
                      <a:r>
                        <a:rPr lang="en-GB" sz="1100">
                          <a:latin typeface="Calibri"/>
                          <a:ea typeface="Calibri"/>
                          <a:cs typeface="Calibri"/>
                          <a:sym typeface="Calibri"/>
                        </a:rPr>
                        <a:t>3.27381151</a:t>
                      </a:r>
                      <a:endParaRPr sz="1100">
                        <a:latin typeface="Calibri"/>
                        <a:ea typeface="Calibri"/>
                        <a:cs typeface="Calibri"/>
                        <a:sym typeface="Calibri"/>
                      </a:endParaRPr>
                    </a:p>
                  </a:txBody>
                  <a:tcPr marL="28575" marR="28575" marT="91425" marB="91425" anchor="b">
                    <a:lnL w="8650" cap="flat" cmpd="sng">
                      <a:solidFill>
                        <a:srgbClr val="000000"/>
                      </a:solidFill>
                      <a:prstDash val="solid"/>
                      <a:round/>
                      <a:headEnd type="none" w="sm" len="sm"/>
                      <a:tailEnd type="none" w="sm" len="sm"/>
                    </a:lnL>
                    <a:lnR w="8650" cap="flat" cmpd="sng">
                      <a:solidFill>
                        <a:srgbClr val="000000"/>
                      </a:solidFill>
                      <a:prstDash val="solid"/>
                      <a:round/>
                      <a:headEnd type="none" w="sm" len="sm"/>
                      <a:tailEnd type="none" w="sm" len="sm"/>
                    </a:lnR>
                    <a:lnT w="8650" cap="flat" cmpd="sng">
                      <a:solidFill>
                        <a:srgbClr val="000000"/>
                      </a:solidFill>
                      <a:prstDash val="solid"/>
                      <a:round/>
                      <a:headEnd type="none" w="sm" len="sm"/>
                      <a:tailEnd type="none" w="sm" len="sm"/>
                    </a:lnT>
                    <a:lnB w="8650" cap="flat" cmpd="sng">
                      <a:solidFill>
                        <a:srgbClr val="000000"/>
                      </a:solidFill>
                      <a:prstDash val="solid"/>
                      <a:round/>
                      <a:headEnd type="none" w="sm" len="sm"/>
                      <a:tailEnd type="none" w="sm" len="sm"/>
                    </a:lnB>
                  </a:tcPr>
                </a:tc>
              </a:tr>
              <a:tr h="1295234">
                <a:tc>
                  <a:txBody>
                    <a:bodyPr/>
                    <a:lstStyle/>
                    <a:p>
                      <a:pPr marL="0" lvl="0" indent="0" algn="l" rtl="0">
                        <a:lnSpc>
                          <a:spcPct val="115000"/>
                        </a:lnSpc>
                        <a:spcBef>
                          <a:spcPts val="0"/>
                        </a:spcBef>
                        <a:spcAft>
                          <a:spcPts val="0"/>
                        </a:spcAft>
                        <a:buNone/>
                      </a:pPr>
                      <a:r>
                        <a:rPr lang="en-GB" sz="1100" dirty="0">
                          <a:latin typeface="Calibri"/>
                          <a:ea typeface="Calibri"/>
                          <a:cs typeface="Calibri"/>
                          <a:sym typeface="Calibri"/>
                        </a:rPr>
                        <a:t>count the number of restaurants listed that do not offer online delivery are in the lowest price range, and have an average cost for two people less than or equal to 250 Indian Rupees</a:t>
                      </a:r>
                      <a:endParaRPr sz="1100" dirty="0">
                        <a:latin typeface="Calibri"/>
                        <a:ea typeface="Calibri"/>
                        <a:cs typeface="Calibri"/>
                        <a:sym typeface="Calibri"/>
                      </a:endParaRPr>
                    </a:p>
                  </a:txBody>
                  <a:tcPr marL="28575" marR="28575" marT="91425" marB="91425" anchor="b">
                    <a:lnL w="8650" cap="flat" cmpd="sng">
                      <a:solidFill>
                        <a:srgbClr val="000000"/>
                      </a:solidFill>
                      <a:prstDash val="solid"/>
                      <a:round/>
                      <a:headEnd type="none" w="sm" len="sm"/>
                      <a:tailEnd type="none" w="sm" len="sm"/>
                    </a:lnL>
                    <a:lnR w="8650" cap="flat" cmpd="sng">
                      <a:solidFill>
                        <a:srgbClr val="000000"/>
                      </a:solidFill>
                      <a:prstDash val="solid"/>
                      <a:round/>
                      <a:headEnd type="none" w="sm" len="sm"/>
                      <a:tailEnd type="none" w="sm" len="sm"/>
                    </a:lnR>
                    <a:lnT w="8650" cap="flat" cmpd="sng">
                      <a:solidFill>
                        <a:srgbClr val="000000"/>
                      </a:solidFill>
                      <a:prstDash val="solid"/>
                      <a:round/>
                      <a:headEnd type="none" w="sm" len="sm"/>
                      <a:tailEnd type="none" w="sm" len="sm"/>
                    </a:lnT>
                    <a:lnB w="8650" cap="flat" cmpd="sng">
                      <a:solidFill>
                        <a:srgbClr val="000000"/>
                      </a:solidFill>
                      <a:prstDash val="solid"/>
                      <a:round/>
                      <a:headEnd type="none" w="sm" len="sm"/>
                      <a:tailEnd type="none" w="sm" len="sm"/>
                    </a:lnB>
                    <a:solidFill>
                      <a:srgbClr val="B7E1CD"/>
                    </a:solidFill>
                  </a:tcPr>
                </a:tc>
                <a:tc>
                  <a:txBody>
                    <a:bodyPr/>
                    <a:lstStyle/>
                    <a:p>
                      <a:pPr marL="0" lvl="0" indent="0" algn="r" rtl="0">
                        <a:lnSpc>
                          <a:spcPct val="115000"/>
                        </a:lnSpc>
                        <a:spcBef>
                          <a:spcPts val="0"/>
                        </a:spcBef>
                        <a:spcAft>
                          <a:spcPts val="0"/>
                        </a:spcAft>
                        <a:buNone/>
                      </a:pPr>
                      <a:r>
                        <a:rPr lang="en-GB" sz="1100" dirty="0">
                          <a:latin typeface="Calibri"/>
                          <a:ea typeface="Calibri"/>
                          <a:cs typeface="Calibri"/>
                          <a:sym typeface="Calibri"/>
                        </a:rPr>
                        <a:t>1694</a:t>
                      </a:r>
                      <a:endParaRPr sz="1100" dirty="0">
                        <a:latin typeface="Calibri"/>
                        <a:ea typeface="Calibri"/>
                        <a:cs typeface="Calibri"/>
                        <a:sym typeface="Calibri"/>
                      </a:endParaRPr>
                    </a:p>
                  </a:txBody>
                  <a:tcPr marL="28575" marR="28575" marT="91425" marB="91425" anchor="b">
                    <a:lnL w="8650" cap="flat" cmpd="sng">
                      <a:solidFill>
                        <a:srgbClr val="000000"/>
                      </a:solidFill>
                      <a:prstDash val="solid"/>
                      <a:round/>
                      <a:headEnd type="none" w="sm" len="sm"/>
                      <a:tailEnd type="none" w="sm" len="sm"/>
                    </a:lnL>
                    <a:lnR w="8650" cap="flat" cmpd="sng">
                      <a:solidFill>
                        <a:srgbClr val="000000"/>
                      </a:solidFill>
                      <a:prstDash val="solid"/>
                      <a:round/>
                      <a:headEnd type="none" w="sm" len="sm"/>
                      <a:tailEnd type="none" w="sm" len="sm"/>
                    </a:lnR>
                    <a:lnT w="8650" cap="flat" cmpd="sng">
                      <a:solidFill>
                        <a:srgbClr val="000000"/>
                      </a:solidFill>
                      <a:prstDash val="solid"/>
                      <a:round/>
                      <a:headEnd type="none" w="sm" len="sm"/>
                      <a:tailEnd type="none" w="sm" len="sm"/>
                    </a:lnT>
                    <a:lnB w="8650" cap="flat" cmpd="sng">
                      <a:solidFill>
                        <a:srgbClr val="000000"/>
                      </a:solidFill>
                      <a:prstDash val="solid"/>
                      <a:round/>
                      <a:headEnd type="none" w="sm" len="sm"/>
                      <a:tailEnd type="none" w="sm" len="sm"/>
                    </a:lnB>
                  </a:tcPr>
                </a:tc>
              </a:tr>
            </a:tbl>
          </a:graphicData>
        </a:graphic>
      </p:graphicFrame>
      <p:sp>
        <p:nvSpPr>
          <p:cNvPr id="3" name="TextBox 2"/>
          <p:cNvSpPr txBox="1"/>
          <p:nvPr/>
        </p:nvSpPr>
        <p:spPr>
          <a:xfrm>
            <a:off x="623455" y="207818"/>
            <a:ext cx="6927272" cy="1046440"/>
          </a:xfrm>
          <a:prstGeom prst="rect">
            <a:avLst/>
          </a:prstGeom>
          <a:noFill/>
        </p:spPr>
        <p:txBody>
          <a:bodyPr wrap="square" rtlCol="0">
            <a:spAutoFit/>
          </a:bodyPr>
          <a:lstStyle/>
          <a:p>
            <a:r>
              <a:rPr lang="en-US" sz="1600" b="1" dirty="0">
                <a:latin typeface="Calibri" pitchFamily="34" charset="0"/>
                <a:ea typeface="Calibri" pitchFamily="34" charset="0"/>
                <a:cs typeface="Calibri" pitchFamily="34" charset="0"/>
              </a:rPr>
              <a:t>Business Objective</a:t>
            </a:r>
            <a:endParaRPr lang="en-US" sz="1600" dirty="0">
              <a:latin typeface="Calibri" pitchFamily="34" charset="0"/>
              <a:ea typeface="Calibri" pitchFamily="34" charset="0"/>
              <a:cs typeface="Calibri" pitchFamily="34" charset="0"/>
            </a:endParaRPr>
          </a:p>
          <a:p>
            <a:pPr marL="285750" indent="-285750">
              <a:buFont typeface="Arial" pitchFamily="34" charset="0"/>
              <a:buChar char="•"/>
            </a:pPr>
            <a:r>
              <a:rPr lang="en-US" sz="1600" dirty="0">
                <a:latin typeface="Calibri" pitchFamily="34" charset="0"/>
                <a:ea typeface="Calibri" pitchFamily="34" charset="0"/>
                <a:cs typeface="Calibri" pitchFamily="34" charset="0"/>
              </a:rPr>
              <a:t>Identify optimal countries and cities for new restaurant openings</a:t>
            </a:r>
          </a:p>
          <a:p>
            <a:pPr marL="285750" indent="-285750">
              <a:buFont typeface="Arial" pitchFamily="34" charset="0"/>
              <a:buChar char="•"/>
            </a:pPr>
            <a:r>
              <a:rPr lang="en-US" sz="1600" dirty="0">
                <a:latin typeface="Calibri" pitchFamily="34" charset="0"/>
                <a:ea typeface="Calibri" pitchFamily="34" charset="0"/>
                <a:cs typeface="Calibri" pitchFamily="34" charset="0"/>
              </a:rPr>
              <a:t>Focus on demand, competition, cost &amp; customer satisfaction</a:t>
            </a:r>
          </a:p>
          <a:p>
            <a:pPr marL="285750" indent="-285750">
              <a:buFont typeface="Arial" pitchFamily="34" charset="0"/>
              <a:buChar char="•"/>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dirty="0">
                <a:latin typeface="Calibri" pitchFamily="34" charset="0"/>
                <a:ea typeface="Calibri" pitchFamily="34" charset="0"/>
                <a:cs typeface="Calibri" pitchFamily="34" charset="0"/>
              </a:rPr>
              <a:t>PROBLEM STATEMENT</a:t>
            </a:r>
            <a:endParaRPr dirty="0">
              <a:latin typeface="Calibri" pitchFamily="34" charset="0"/>
              <a:ea typeface="Calibri" pitchFamily="34" charset="0"/>
              <a:cs typeface="Calibri" pitchFamily="34" charset="0"/>
            </a:endParaRPr>
          </a:p>
        </p:txBody>
      </p:sp>
      <p:sp>
        <p:nvSpPr>
          <p:cNvPr id="79" name="Google Shape;79;p15"/>
          <p:cNvSpPr txBox="1">
            <a:spLocks noGrp="1"/>
          </p:cNvSpPr>
          <p:nvPr>
            <p:ph type="body" idx="1"/>
          </p:nvPr>
        </p:nvSpPr>
        <p:spPr>
          <a:xfrm>
            <a:off x="311699" y="1505700"/>
            <a:ext cx="4592810" cy="3076200"/>
          </a:xfrm>
          <a:prstGeom prst="rect">
            <a:avLst/>
          </a:prstGeom>
        </p:spPr>
        <p:txBody>
          <a:bodyPr spcFirstLastPara="1" wrap="square" lIns="91425" tIns="91425" rIns="91425" bIns="91425" anchor="ctr" anchorCtr="0">
            <a:normAutofit/>
          </a:bodyPr>
          <a:lstStyle/>
          <a:p>
            <a:pPr marL="0" lvl="0" indent="0" algn="l" rtl="0">
              <a:lnSpc>
                <a:spcPct val="110000"/>
              </a:lnSpc>
              <a:spcBef>
                <a:spcPts val="700"/>
              </a:spcBef>
              <a:spcAft>
                <a:spcPts val="0"/>
              </a:spcAft>
              <a:buNone/>
            </a:pPr>
            <a:r>
              <a:rPr lang="en-GB" sz="1700" dirty="0" smtClean="0">
                <a:solidFill>
                  <a:schemeClr val="tx1"/>
                </a:solidFill>
                <a:latin typeface="Calibri" pitchFamily="34" charset="0"/>
                <a:ea typeface="Calibri" pitchFamily="34" charset="0"/>
                <a:cs typeface="Calibri" pitchFamily="34" charset="0"/>
                <a:sym typeface="Arial"/>
              </a:rPr>
              <a:t>To </a:t>
            </a:r>
            <a:r>
              <a:rPr lang="en-GB" sz="1700" dirty="0">
                <a:solidFill>
                  <a:schemeClr val="tx1"/>
                </a:solidFill>
                <a:latin typeface="Calibri" pitchFamily="34" charset="0"/>
                <a:ea typeface="Calibri" pitchFamily="34" charset="0"/>
                <a:cs typeface="Calibri" pitchFamily="34" charset="0"/>
                <a:sym typeface="Arial"/>
              </a:rPr>
              <a:t>identify optimal countries and cities for opening new restaurants by analysing existing restaurant performance, market demand, and economic </a:t>
            </a:r>
            <a:r>
              <a:rPr lang="en-GB" sz="1700" dirty="0" smtClean="0">
                <a:solidFill>
                  <a:schemeClr val="tx1"/>
                </a:solidFill>
                <a:latin typeface="Calibri" pitchFamily="34" charset="0"/>
                <a:ea typeface="Calibri" pitchFamily="34" charset="0"/>
                <a:cs typeface="Calibri" pitchFamily="34" charset="0"/>
                <a:sym typeface="Arial"/>
              </a:rPr>
              <a:t>factors, ensuring profitable </a:t>
            </a:r>
            <a:r>
              <a:rPr lang="en-GB" sz="1700" dirty="0">
                <a:solidFill>
                  <a:schemeClr val="tx1"/>
                </a:solidFill>
                <a:latin typeface="Calibri" pitchFamily="34" charset="0"/>
                <a:ea typeface="Calibri" pitchFamily="34" charset="0"/>
                <a:cs typeface="Calibri" pitchFamily="34" charset="0"/>
                <a:sym typeface="Arial"/>
              </a:rPr>
              <a:t>and </a:t>
            </a:r>
            <a:r>
              <a:rPr lang="en-GB" sz="1700" dirty="0" smtClean="0">
                <a:solidFill>
                  <a:schemeClr val="tx1"/>
                </a:solidFill>
                <a:latin typeface="Calibri" pitchFamily="34" charset="0"/>
                <a:ea typeface="Calibri" pitchFamily="34" charset="0"/>
                <a:cs typeface="Calibri" pitchFamily="34" charset="0"/>
                <a:sym typeface="Arial"/>
              </a:rPr>
              <a:t>strategic expansion</a:t>
            </a:r>
            <a:r>
              <a:rPr lang="en-GB" sz="2600" dirty="0">
                <a:solidFill>
                  <a:schemeClr val="tx1"/>
                </a:solidFill>
                <a:latin typeface="Arial"/>
                <a:ea typeface="Arial"/>
                <a:cs typeface="Arial"/>
                <a:sym typeface="Arial"/>
              </a:rPr>
              <a:t>.</a:t>
            </a:r>
            <a:endParaRPr sz="2600" dirty="0">
              <a:solidFill>
                <a:schemeClr val="tx1"/>
              </a:solidFill>
              <a:latin typeface="Arial"/>
              <a:ea typeface="Arial"/>
              <a:cs typeface="Arial"/>
              <a:sym typeface="Arial"/>
            </a:endParaRPr>
          </a:p>
          <a:p>
            <a:pPr marL="0" lvl="0" indent="0" algn="l" rtl="0">
              <a:spcBef>
                <a:spcPts val="600"/>
              </a:spcBef>
              <a:spcAft>
                <a:spcPts val="1200"/>
              </a:spcAft>
              <a:buNone/>
            </a:pPr>
            <a:endParaRPr dirty="0"/>
          </a:p>
        </p:txBody>
      </p:sp>
      <p:pic>
        <p:nvPicPr>
          <p:cNvPr id="81" name="Google Shape;81;p15"/>
          <p:cNvPicPr preferRelativeResize="0"/>
          <p:nvPr/>
        </p:nvPicPr>
        <p:blipFill>
          <a:blip r:embed="rId3">
            <a:alphaModFix/>
          </a:blip>
          <a:stretch>
            <a:fillRect/>
          </a:stretch>
        </p:blipFill>
        <p:spPr>
          <a:xfrm>
            <a:off x="5240550" y="1596250"/>
            <a:ext cx="3521125" cy="2837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6"/>
          <p:cNvSpPr txBox="1">
            <a:spLocks noGrp="1"/>
          </p:cNvSpPr>
          <p:nvPr>
            <p:ph type="subTitle" idx="4294967295"/>
          </p:nvPr>
        </p:nvSpPr>
        <p:spPr>
          <a:xfrm>
            <a:off x="231325" y="1232475"/>
            <a:ext cx="8188200" cy="31509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GB" sz="1600" dirty="0">
                <a:latin typeface="Calibri" pitchFamily="34" charset="0"/>
                <a:ea typeface="Calibri" pitchFamily="34" charset="0"/>
                <a:cs typeface="Calibri" pitchFamily="34" charset="0"/>
              </a:rPr>
              <a:t>Total 15 countries, restaurant name, locality, cuisines it offer.</a:t>
            </a:r>
            <a:endParaRPr sz="1600" dirty="0">
              <a:latin typeface="Calibri" pitchFamily="34" charset="0"/>
              <a:ea typeface="Calibri" pitchFamily="34" charset="0"/>
              <a:cs typeface="Calibri" pitchFamily="34" charset="0"/>
            </a:endParaRPr>
          </a:p>
          <a:p>
            <a:pPr marL="457200" lvl="0" indent="-311150" algn="l" rtl="0">
              <a:spcBef>
                <a:spcPts val="0"/>
              </a:spcBef>
              <a:spcAft>
                <a:spcPts val="0"/>
              </a:spcAft>
              <a:buSzPts val="1300"/>
              <a:buChar char="●"/>
            </a:pPr>
            <a:r>
              <a:rPr lang="en-GB" sz="1600" dirty="0">
                <a:latin typeface="Calibri" pitchFamily="34" charset="0"/>
                <a:ea typeface="Calibri" pitchFamily="34" charset="0"/>
                <a:cs typeface="Calibri" pitchFamily="34" charset="0"/>
              </a:rPr>
              <a:t>Dataset contains information about restaurant name, id, locality, longitude, latitude, date of </a:t>
            </a:r>
            <a:r>
              <a:rPr lang="en-GB" sz="1600" dirty="0" err="1">
                <a:latin typeface="Calibri" pitchFamily="34" charset="0"/>
                <a:ea typeface="Calibri" pitchFamily="34" charset="0"/>
                <a:cs typeface="Calibri" pitchFamily="34" charset="0"/>
              </a:rPr>
              <a:t>opening,currency</a:t>
            </a:r>
            <a:r>
              <a:rPr lang="en-GB" sz="1600" dirty="0">
                <a:latin typeface="Calibri" pitchFamily="34" charset="0"/>
                <a:ea typeface="Calibri" pitchFamily="34" charset="0"/>
                <a:cs typeface="Calibri" pitchFamily="34" charset="0"/>
              </a:rPr>
              <a:t> used, average cost of two, has online delivery service available or not</a:t>
            </a:r>
            <a:endParaRPr sz="1600" dirty="0">
              <a:latin typeface="Calibri" pitchFamily="34" charset="0"/>
              <a:ea typeface="Calibri" pitchFamily="34" charset="0"/>
              <a:cs typeface="Calibri" pitchFamily="34" charset="0"/>
            </a:endParaRPr>
          </a:p>
          <a:p>
            <a:pPr marL="0" lvl="0" indent="0" algn="l" rtl="0">
              <a:spcBef>
                <a:spcPts val="1200"/>
              </a:spcBef>
              <a:spcAft>
                <a:spcPts val="0"/>
              </a:spcAft>
              <a:buNone/>
            </a:pPr>
            <a:r>
              <a:rPr lang="en-GB" sz="1600" dirty="0">
                <a:latin typeface="Calibri" pitchFamily="34" charset="0"/>
                <a:ea typeface="Calibri" pitchFamily="34" charset="0"/>
                <a:cs typeface="Calibri" pitchFamily="34" charset="0"/>
              </a:rPr>
              <a:t>Data Cleaning and processes</a:t>
            </a:r>
            <a:endParaRPr sz="1600" dirty="0">
              <a:latin typeface="Calibri" pitchFamily="34" charset="0"/>
              <a:ea typeface="Calibri" pitchFamily="34" charset="0"/>
              <a:cs typeface="Calibri" pitchFamily="34" charset="0"/>
            </a:endParaRPr>
          </a:p>
          <a:p>
            <a:pPr marL="457200" lvl="0" indent="-311150" algn="l" rtl="0">
              <a:spcBef>
                <a:spcPts val="1200"/>
              </a:spcBef>
              <a:spcAft>
                <a:spcPts val="0"/>
              </a:spcAft>
              <a:buSzPts val="1300"/>
              <a:buChar char="●"/>
            </a:pPr>
            <a:r>
              <a:rPr lang="en-GB" sz="1600" dirty="0">
                <a:latin typeface="Calibri" pitchFamily="34" charset="0"/>
                <a:ea typeface="Calibri" pitchFamily="34" charset="0"/>
                <a:cs typeface="Calibri" pitchFamily="34" charset="0"/>
              </a:rPr>
              <a:t>Cuisines contains some null values  which is handled by </a:t>
            </a:r>
            <a:r>
              <a:rPr lang="en-GB" sz="1600" dirty="0" err="1">
                <a:latin typeface="Calibri" pitchFamily="34" charset="0"/>
                <a:ea typeface="Calibri" pitchFamily="34" charset="0"/>
                <a:cs typeface="Calibri" pitchFamily="34" charset="0"/>
              </a:rPr>
              <a:t>ifblank</a:t>
            </a:r>
            <a:endParaRPr sz="1600" dirty="0">
              <a:latin typeface="Calibri" pitchFamily="34" charset="0"/>
              <a:ea typeface="Calibri" pitchFamily="34" charset="0"/>
              <a:cs typeface="Calibri" pitchFamily="34" charset="0"/>
            </a:endParaRPr>
          </a:p>
          <a:p>
            <a:pPr marL="457200" lvl="0" indent="-311150" algn="l" rtl="0">
              <a:spcBef>
                <a:spcPts val="0"/>
              </a:spcBef>
              <a:spcAft>
                <a:spcPts val="0"/>
              </a:spcAft>
              <a:buSzPts val="1300"/>
              <a:buChar char="●"/>
            </a:pPr>
            <a:r>
              <a:rPr lang="en-GB" sz="1600" dirty="0">
                <a:latin typeface="Calibri" pitchFamily="34" charset="0"/>
                <a:ea typeface="Calibri" pitchFamily="34" charset="0"/>
                <a:cs typeface="Calibri" pitchFamily="34" charset="0"/>
              </a:rPr>
              <a:t>Normalized currency with average cost of two people</a:t>
            </a:r>
            <a:endParaRPr sz="1600" dirty="0">
              <a:latin typeface="Calibri" pitchFamily="34" charset="0"/>
              <a:ea typeface="Calibri" pitchFamily="34" charset="0"/>
              <a:cs typeface="Calibri" pitchFamily="34" charset="0"/>
            </a:endParaRPr>
          </a:p>
          <a:p>
            <a:pPr marL="457200" lvl="0" indent="-311150" algn="l" rtl="0">
              <a:spcBef>
                <a:spcPts val="0"/>
              </a:spcBef>
              <a:spcAft>
                <a:spcPts val="0"/>
              </a:spcAft>
              <a:buSzPts val="1300"/>
              <a:buChar char="●"/>
            </a:pPr>
            <a:r>
              <a:rPr lang="en-GB" sz="1600" dirty="0" err="1">
                <a:latin typeface="Calibri" pitchFamily="34" charset="0"/>
                <a:ea typeface="Calibri" pitchFamily="34" charset="0"/>
                <a:cs typeface="Calibri" pitchFamily="34" charset="0"/>
              </a:rPr>
              <a:t>Standarized</a:t>
            </a:r>
            <a:r>
              <a:rPr lang="en-GB" sz="1600" dirty="0">
                <a:latin typeface="Calibri" pitchFamily="34" charset="0"/>
                <a:ea typeface="Calibri" pitchFamily="34" charset="0"/>
                <a:cs typeface="Calibri" pitchFamily="34" charset="0"/>
              </a:rPr>
              <a:t> date format in readable format</a:t>
            </a:r>
            <a:endParaRPr sz="1600" dirty="0">
              <a:latin typeface="Calibri" pitchFamily="34" charset="0"/>
              <a:ea typeface="Calibri" pitchFamily="34" charset="0"/>
              <a:cs typeface="Calibri" pitchFamily="34" charset="0"/>
            </a:endParaRPr>
          </a:p>
          <a:p>
            <a:pPr marL="457200" lvl="0" indent="-311150" algn="l" rtl="0">
              <a:spcBef>
                <a:spcPts val="0"/>
              </a:spcBef>
              <a:spcAft>
                <a:spcPts val="0"/>
              </a:spcAft>
              <a:buSzPts val="1300"/>
              <a:buChar char="●"/>
            </a:pPr>
            <a:r>
              <a:rPr lang="en-GB" sz="1600" dirty="0">
                <a:latin typeface="Calibri" pitchFamily="34" charset="0"/>
                <a:ea typeface="Calibri" pitchFamily="34" charset="0"/>
                <a:cs typeface="Calibri" pitchFamily="34" charset="0"/>
              </a:rPr>
              <a:t>Processed various currencies and converted them into INR and USD for comparison.</a:t>
            </a:r>
            <a:endParaRPr sz="1600" dirty="0">
              <a:latin typeface="Calibri" pitchFamily="34" charset="0"/>
              <a:ea typeface="Calibri" pitchFamily="34" charset="0"/>
              <a:cs typeface="Calibri" pitchFamily="34" charset="0"/>
            </a:endParaRPr>
          </a:p>
          <a:p>
            <a:pPr marL="457200" lvl="0" indent="-311150" algn="l" rtl="0">
              <a:spcBef>
                <a:spcPts val="0"/>
              </a:spcBef>
              <a:spcAft>
                <a:spcPts val="0"/>
              </a:spcAft>
              <a:buSzPts val="1300"/>
              <a:buChar char="●"/>
            </a:pPr>
            <a:r>
              <a:rPr lang="en-GB" sz="1600" dirty="0">
                <a:latin typeface="Calibri" pitchFamily="34" charset="0"/>
                <a:ea typeface="Calibri" pitchFamily="34" charset="0"/>
                <a:cs typeface="Calibri" pitchFamily="34" charset="0"/>
              </a:rPr>
              <a:t>Used LOOKUP functions to fetch the appropriate country codes.</a:t>
            </a:r>
            <a:endParaRPr sz="1600" dirty="0">
              <a:latin typeface="Calibri" pitchFamily="34" charset="0"/>
              <a:ea typeface="Calibri" pitchFamily="34" charset="0"/>
              <a:cs typeface="Calibri" pitchFamily="34" charset="0"/>
            </a:endParaRPr>
          </a:p>
          <a:p>
            <a:pPr marL="457200" lvl="0" indent="0" algn="l" rtl="0">
              <a:spcBef>
                <a:spcPts val="1200"/>
              </a:spcBef>
              <a:spcAft>
                <a:spcPts val="1200"/>
              </a:spcAft>
              <a:buNone/>
            </a:pPr>
            <a:endParaRPr dirty="0"/>
          </a:p>
        </p:txBody>
      </p:sp>
      <p:sp>
        <p:nvSpPr>
          <p:cNvPr id="88" name="Google Shape;88;p16"/>
          <p:cNvSpPr txBox="1"/>
          <p:nvPr/>
        </p:nvSpPr>
        <p:spPr>
          <a:xfrm>
            <a:off x="328125" y="159625"/>
            <a:ext cx="7998900" cy="7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2800" b="1" dirty="0">
                <a:latin typeface="Calibri" pitchFamily="34" charset="0"/>
                <a:ea typeface="Calibri" pitchFamily="34" charset="0"/>
                <a:cs typeface="Calibri" pitchFamily="34" charset="0"/>
              </a:rPr>
              <a:t>Data Cleaning and Processing</a:t>
            </a:r>
            <a:endParaRPr sz="2800" dirty="0">
              <a:latin typeface="Calibri" pitchFamily="34" charset="0"/>
              <a:ea typeface="Calibri" pitchFamily="34" charset="0"/>
              <a:cs typeface="Calibri" pitchFamily="34" charset="0"/>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7"/>
          <p:cNvSpPr txBox="1">
            <a:spLocks noGrp="1"/>
          </p:cNvSpPr>
          <p:nvPr>
            <p:ph type="ctrTitle"/>
          </p:nvPr>
        </p:nvSpPr>
        <p:spPr>
          <a:xfrm>
            <a:off x="90700" y="77600"/>
            <a:ext cx="8520600" cy="657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dirty="0">
                <a:latin typeface="Calibri" pitchFamily="34" charset="0"/>
                <a:ea typeface="Calibri" pitchFamily="34" charset="0"/>
                <a:cs typeface="Calibri" pitchFamily="34" charset="0"/>
              </a:rPr>
              <a:t>Methodology</a:t>
            </a:r>
            <a:endParaRPr dirty="0">
              <a:latin typeface="Calibri" pitchFamily="34" charset="0"/>
              <a:ea typeface="Calibri" pitchFamily="34" charset="0"/>
              <a:cs typeface="Calibri" pitchFamily="34" charset="0"/>
            </a:endParaRPr>
          </a:p>
        </p:txBody>
      </p:sp>
      <p:sp>
        <p:nvSpPr>
          <p:cNvPr id="94" name="Google Shape;94;p17"/>
          <p:cNvSpPr txBox="1">
            <a:spLocks noGrp="1"/>
          </p:cNvSpPr>
          <p:nvPr>
            <p:ph type="subTitle" idx="1"/>
          </p:nvPr>
        </p:nvSpPr>
        <p:spPr>
          <a:xfrm>
            <a:off x="221300" y="894026"/>
            <a:ext cx="8520600" cy="39402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Char char="●"/>
            </a:pPr>
            <a:r>
              <a:rPr lang="en-GB" b="1" dirty="0">
                <a:latin typeface="Calibri" pitchFamily="34" charset="0"/>
                <a:ea typeface="Calibri" pitchFamily="34" charset="0"/>
                <a:cs typeface="Calibri" pitchFamily="34" charset="0"/>
              </a:rPr>
              <a:t>Data Cleaning</a:t>
            </a:r>
            <a:r>
              <a:rPr lang="en-GB" dirty="0">
                <a:latin typeface="Calibri" pitchFamily="34" charset="0"/>
                <a:ea typeface="Calibri" pitchFamily="34" charset="0"/>
                <a:cs typeface="Calibri" pitchFamily="34" charset="0"/>
              </a:rPr>
              <a:t> - Using </a:t>
            </a:r>
            <a:r>
              <a:rPr lang="en-GB" dirty="0" err="1">
                <a:latin typeface="Calibri" pitchFamily="34" charset="0"/>
                <a:ea typeface="Calibri" pitchFamily="34" charset="0"/>
                <a:cs typeface="Calibri" pitchFamily="34" charset="0"/>
              </a:rPr>
              <a:t>ifna</a:t>
            </a:r>
            <a:r>
              <a:rPr lang="en-GB" dirty="0">
                <a:latin typeface="Calibri" pitchFamily="34" charset="0"/>
                <a:ea typeface="Calibri" pitchFamily="34" charset="0"/>
                <a:cs typeface="Calibri" pitchFamily="34" charset="0"/>
              </a:rPr>
              <a:t>() , trim, clear function to handle  missing values</a:t>
            </a:r>
            <a:endParaRPr dirty="0">
              <a:latin typeface="Calibri" pitchFamily="34" charset="0"/>
              <a:ea typeface="Calibri" pitchFamily="34" charset="0"/>
              <a:cs typeface="Calibri" pitchFamily="34" charset="0"/>
            </a:endParaRPr>
          </a:p>
          <a:p>
            <a:pPr marL="457200" lvl="0" indent="-330200" algn="l" rtl="0">
              <a:spcBef>
                <a:spcPts val="0"/>
              </a:spcBef>
              <a:spcAft>
                <a:spcPts val="0"/>
              </a:spcAft>
              <a:buSzPts val="1600"/>
              <a:buChar char="●"/>
            </a:pPr>
            <a:r>
              <a:rPr lang="en-GB" b="1" dirty="0">
                <a:latin typeface="Calibri" pitchFamily="34" charset="0"/>
                <a:ea typeface="Calibri" pitchFamily="34" charset="0"/>
                <a:cs typeface="Calibri" pitchFamily="34" charset="0"/>
              </a:rPr>
              <a:t>Data </a:t>
            </a:r>
            <a:r>
              <a:rPr lang="en-GB" b="1" dirty="0" err="1">
                <a:latin typeface="Calibri" pitchFamily="34" charset="0"/>
                <a:ea typeface="Calibri" pitchFamily="34" charset="0"/>
                <a:cs typeface="Calibri" pitchFamily="34" charset="0"/>
              </a:rPr>
              <a:t>Preprocessing</a:t>
            </a:r>
            <a:r>
              <a:rPr lang="en-GB" dirty="0">
                <a:latin typeface="Calibri" pitchFamily="34" charset="0"/>
                <a:ea typeface="Calibri" pitchFamily="34" charset="0"/>
                <a:cs typeface="Calibri" pitchFamily="34" charset="0"/>
              </a:rPr>
              <a:t> - Enhanced dataset with additional column name of country extracted using VLOOKUP to cross reference external data sets</a:t>
            </a:r>
            <a:endParaRPr dirty="0">
              <a:latin typeface="Calibri" pitchFamily="34" charset="0"/>
              <a:ea typeface="Calibri" pitchFamily="34" charset="0"/>
              <a:cs typeface="Calibri" pitchFamily="34" charset="0"/>
            </a:endParaRPr>
          </a:p>
          <a:p>
            <a:pPr marL="457200" lvl="0" indent="-330200" algn="l" rtl="0">
              <a:spcBef>
                <a:spcPts val="0"/>
              </a:spcBef>
              <a:spcAft>
                <a:spcPts val="0"/>
              </a:spcAft>
              <a:buSzPts val="1600"/>
              <a:buChar char="●"/>
            </a:pPr>
            <a:r>
              <a:rPr lang="en-GB" b="1" dirty="0">
                <a:latin typeface="Calibri" pitchFamily="34" charset="0"/>
                <a:ea typeface="Calibri" pitchFamily="34" charset="0"/>
                <a:cs typeface="Calibri" pitchFamily="34" charset="0"/>
              </a:rPr>
              <a:t>Data Enrichment</a:t>
            </a:r>
            <a:r>
              <a:rPr lang="en-GB" dirty="0">
                <a:latin typeface="Calibri" pitchFamily="34" charset="0"/>
                <a:ea typeface="Calibri" pitchFamily="34" charset="0"/>
                <a:cs typeface="Calibri" pitchFamily="34" charset="0"/>
              </a:rPr>
              <a:t> - Applied CONCATENATE, MID, FIND function to attain customized price value using currency and price</a:t>
            </a:r>
            <a:endParaRPr dirty="0">
              <a:latin typeface="Calibri" pitchFamily="34" charset="0"/>
              <a:ea typeface="Calibri" pitchFamily="34" charset="0"/>
              <a:cs typeface="Calibri" pitchFamily="34" charset="0"/>
            </a:endParaRPr>
          </a:p>
          <a:p>
            <a:pPr marL="457200" lvl="0" indent="-330200" algn="l" rtl="0">
              <a:spcBef>
                <a:spcPts val="0"/>
              </a:spcBef>
              <a:spcAft>
                <a:spcPts val="0"/>
              </a:spcAft>
              <a:buSzPts val="1600"/>
              <a:buChar char="●"/>
            </a:pPr>
            <a:r>
              <a:rPr lang="en-GB" b="1" dirty="0">
                <a:latin typeface="Calibri" pitchFamily="34" charset="0"/>
                <a:ea typeface="Calibri" pitchFamily="34" charset="0"/>
                <a:cs typeface="Calibri" pitchFamily="34" charset="0"/>
              </a:rPr>
              <a:t>Descriptive Analysis - </a:t>
            </a:r>
            <a:r>
              <a:rPr lang="en-GB" dirty="0">
                <a:latin typeface="Calibri" pitchFamily="34" charset="0"/>
                <a:ea typeface="Calibri" pitchFamily="34" charset="0"/>
                <a:cs typeface="Calibri" pitchFamily="34" charset="0"/>
              </a:rPr>
              <a:t> Employed PIVOT table to summarize key metrics and identify count of restaurants in each country, cities and price of each. It also helps in understanding which restaurant is highly rated and what factors affect it.</a:t>
            </a:r>
            <a:endParaRPr dirty="0">
              <a:latin typeface="Calibri" pitchFamily="34" charset="0"/>
              <a:ea typeface="Calibri" pitchFamily="34" charset="0"/>
              <a:cs typeface="Calibri" pitchFamily="34" charset="0"/>
            </a:endParaRPr>
          </a:p>
          <a:p>
            <a:pPr marL="457200" lvl="0" indent="-330200" algn="l" rtl="0">
              <a:spcBef>
                <a:spcPts val="0"/>
              </a:spcBef>
              <a:spcAft>
                <a:spcPts val="0"/>
              </a:spcAft>
              <a:buSzPts val="1600"/>
              <a:buChar char="●"/>
            </a:pPr>
            <a:r>
              <a:rPr lang="en-GB" b="1" dirty="0">
                <a:latin typeface="Calibri" pitchFamily="34" charset="0"/>
                <a:ea typeface="Calibri" pitchFamily="34" charset="0"/>
                <a:cs typeface="Calibri" pitchFamily="34" charset="0"/>
              </a:rPr>
              <a:t>Visualization - </a:t>
            </a:r>
            <a:r>
              <a:rPr lang="en-GB" dirty="0">
                <a:latin typeface="Calibri" pitchFamily="34" charset="0"/>
                <a:ea typeface="Calibri" pitchFamily="34" charset="0"/>
                <a:cs typeface="Calibri" pitchFamily="34" charset="0"/>
              </a:rPr>
              <a:t> creating dynamic charts and dashboards for data visualization</a:t>
            </a:r>
            <a:r>
              <a:rPr lang="en-GB" dirty="0"/>
              <a:t>.</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8"/>
          <p:cNvSpPr txBox="1">
            <a:spLocks noGrp="1"/>
          </p:cNvSpPr>
          <p:nvPr>
            <p:ph type="title" idx="4294967295"/>
          </p:nvPr>
        </p:nvSpPr>
        <p:spPr>
          <a:xfrm>
            <a:off x="-1" y="49213"/>
            <a:ext cx="4904510" cy="79591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GB" sz="1520" dirty="0"/>
              <a:t>No. of Restaurants opened in each city</a:t>
            </a:r>
            <a:endParaRPr sz="1520" dirty="0"/>
          </a:p>
        </p:txBody>
      </p:sp>
      <p:sp>
        <p:nvSpPr>
          <p:cNvPr id="101" name="Google Shape;101;p18"/>
          <p:cNvSpPr txBox="1">
            <a:spLocks noGrp="1"/>
          </p:cNvSpPr>
          <p:nvPr>
            <p:ph type="body" idx="4294967295"/>
          </p:nvPr>
        </p:nvSpPr>
        <p:spPr>
          <a:xfrm>
            <a:off x="4978400" y="501650"/>
            <a:ext cx="4165600" cy="4097338"/>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GB" sz="1600" b="1" dirty="0">
                <a:solidFill>
                  <a:srgbClr val="000000"/>
                </a:solidFill>
                <a:latin typeface="Calibri" pitchFamily="34" charset="0"/>
                <a:ea typeface="Calibri" pitchFamily="34" charset="0"/>
                <a:cs typeface="Calibri" pitchFamily="34" charset="0"/>
                <a:sym typeface="Arial"/>
              </a:rPr>
              <a:t>8,652 restaurants</a:t>
            </a:r>
            <a:r>
              <a:rPr lang="en-GB" sz="1600" dirty="0">
                <a:solidFill>
                  <a:srgbClr val="000000"/>
                </a:solidFill>
                <a:latin typeface="Calibri" pitchFamily="34" charset="0"/>
                <a:ea typeface="Calibri" pitchFamily="34" charset="0"/>
                <a:cs typeface="Calibri" pitchFamily="34" charset="0"/>
                <a:sym typeface="Arial"/>
              </a:rPr>
              <a:t> (90%+ of total) are in </a:t>
            </a:r>
            <a:r>
              <a:rPr lang="en-GB" sz="1600" b="1" dirty="0">
                <a:solidFill>
                  <a:srgbClr val="000000"/>
                </a:solidFill>
                <a:latin typeface="Calibri" pitchFamily="34" charset="0"/>
                <a:ea typeface="Calibri" pitchFamily="34" charset="0"/>
                <a:cs typeface="Calibri" pitchFamily="34" charset="0"/>
                <a:sym typeface="Arial"/>
              </a:rPr>
              <a:t>India</a:t>
            </a:r>
            <a:r>
              <a:rPr lang="en-GB" sz="1600" dirty="0">
                <a:solidFill>
                  <a:srgbClr val="000000"/>
                </a:solidFill>
                <a:latin typeface="Calibri" pitchFamily="34" charset="0"/>
                <a:ea typeface="Calibri" pitchFamily="34" charset="0"/>
                <a:cs typeface="Calibri" pitchFamily="34" charset="0"/>
                <a:sym typeface="Arial"/>
              </a:rPr>
              <a:t>, indicating a </a:t>
            </a:r>
            <a:r>
              <a:rPr lang="en-GB" sz="1600" b="1" dirty="0">
                <a:solidFill>
                  <a:srgbClr val="000000"/>
                </a:solidFill>
                <a:latin typeface="Calibri" pitchFamily="34" charset="0"/>
                <a:ea typeface="Calibri" pitchFamily="34" charset="0"/>
                <a:cs typeface="Calibri" pitchFamily="34" charset="0"/>
                <a:sym typeface="Arial"/>
              </a:rPr>
              <a:t>highly competitive</a:t>
            </a:r>
            <a:r>
              <a:rPr lang="en-GB" sz="1600" dirty="0">
                <a:solidFill>
                  <a:srgbClr val="000000"/>
                </a:solidFill>
                <a:latin typeface="Calibri" pitchFamily="34" charset="0"/>
                <a:ea typeface="Calibri" pitchFamily="34" charset="0"/>
                <a:cs typeface="Calibri" pitchFamily="34" charset="0"/>
                <a:sym typeface="Arial"/>
              </a:rPr>
              <a:t> food industry</a:t>
            </a:r>
            <a:endParaRPr sz="1600" dirty="0">
              <a:solidFill>
                <a:srgbClr val="000000"/>
              </a:solidFill>
              <a:latin typeface="Calibri" pitchFamily="34" charset="0"/>
              <a:ea typeface="Calibri" pitchFamily="34" charset="0"/>
              <a:cs typeface="Calibri" pitchFamily="34" charset="0"/>
              <a:sym typeface="Arial"/>
            </a:endParaRPr>
          </a:p>
          <a:p>
            <a:pPr marL="457200" lvl="0" indent="-317500" algn="l" rtl="0">
              <a:spcBef>
                <a:spcPts val="0"/>
              </a:spcBef>
              <a:spcAft>
                <a:spcPts val="0"/>
              </a:spcAft>
              <a:buClr>
                <a:srgbClr val="000000"/>
              </a:buClr>
              <a:buSzPts val="1400"/>
              <a:buFont typeface="Arial"/>
              <a:buChar char="●"/>
            </a:pPr>
            <a:r>
              <a:rPr lang="en-GB" sz="1600" b="1" dirty="0">
                <a:solidFill>
                  <a:srgbClr val="000000"/>
                </a:solidFill>
                <a:latin typeface="Calibri" pitchFamily="34" charset="0"/>
                <a:ea typeface="Calibri" pitchFamily="34" charset="0"/>
                <a:cs typeface="Calibri" pitchFamily="34" charset="0"/>
                <a:sym typeface="Arial"/>
              </a:rPr>
              <a:t>434 restaurants</a:t>
            </a:r>
            <a:r>
              <a:rPr lang="en-GB" sz="1600" dirty="0">
                <a:solidFill>
                  <a:srgbClr val="000000"/>
                </a:solidFill>
                <a:latin typeface="Calibri" pitchFamily="34" charset="0"/>
                <a:ea typeface="Calibri" pitchFamily="34" charset="0"/>
                <a:cs typeface="Calibri" pitchFamily="34" charset="0"/>
                <a:sym typeface="Arial"/>
              </a:rPr>
              <a:t> are located in the </a:t>
            </a:r>
            <a:r>
              <a:rPr lang="en-GB" sz="1600" b="1" dirty="0">
                <a:solidFill>
                  <a:srgbClr val="000000"/>
                </a:solidFill>
                <a:latin typeface="Calibri" pitchFamily="34" charset="0"/>
                <a:ea typeface="Calibri" pitchFamily="34" charset="0"/>
                <a:cs typeface="Calibri" pitchFamily="34" charset="0"/>
                <a:sym typeface="Arial"/>
              </a:rPr>
              <a:t>USA</a:t>
            </a:r>
            <a:r>
              <a:rPr lang="en-GB" sz="1600" dirty="0">
                <a:solidFill>
                  <a:srgbClr val="000000"/>
                </a:solidFill>
                <a:latin typeface="Calibri" pitchFamily="34" charset="0"/>
                <a:ea typeface="Calibri" pitchFamily="34" charset="0"/>
                <a:cs typeface="Calibri" pitchFamily="34" charset="0"/>
                <a:sym typeface="Arial"/>
              </a:rPr>
              <a:t>, showing </a:t>
            </a:r>
            <a:r>
              <a:rPr lang="en-GB" sz="1600" b="1" dirty="0">
                <a:solidFill>
                  <a:srgbClr val="000000"/>
                </a:solidFill>
                <a:latin typeface="Calibri" pitchFamily="34" charset="0"/>
                <a:ea typeface="Calibri" pitchFamily="34" charset="0"/>
                <a:cs typeface="Calibri" pitchFamily="34" charset="0"/>
                <a:sym typeface="Arial"/>
              </a:rPr>
              <a:t>significant market presence</a:t>
            </a:r>
            <a:r>
              <a:rPr lang="en-GB" sz="1600" dirty="0">
                <a:solidFill>
                  <a:srgbClr val="000000"/>
                </a:solidFill>
                <a:latin typeface="Calibri" pitchFamily="34" charset="0"/>
                <a:ea typeface="Calibri" pitchFamily="34" charset="0"/>
                <a:cs typeface="Calibri" pitchFamily="34" charset="0"/>
                <a:sym typeface="Arial"/>
              </a:rPr>
              <a:t>.</a:t>
            </a:r>
            <a:endParaRPr sz="1600" dirty="0">
              <a:solidFill>
                <a:srgbClr val="000000"/>
              </a:solidFill>
              <a:latin typeface="Calibri" pitchFamily="34" charset="0"/>
              <a:ea typeface="Calibri" pitchFamily="34" charset="0"/>
              <a:cs typeface="Calibri" pitchFamily="34" charset="0"/>
              <a:sym typeface="Arial"/>
            </a:endParaRPr>
          </a:p>
          <a:p>
            <a:pPr marL="457200" lvl="0" indent="-317500" algn="l" rtl="0">
              <a:spcBef>
                <a:spcPts val="0"/>
              </a:spcBef>
              <a:spcAft>
                <a:spcPts val="0"/>
              </a:spcAft>
              <a:buClr>
                <a:srgbClr val="000000"/>
              </a:buClr>
              <a:buSzPts val="1400"/>
              <a:buFont typeface="Arial"/>
              <a:buChar char="●"/>
            </a:pPr>
            <a:r>
              <a:rPr lang="en-GB" sz="1600" dirty="0">
                <a:solidFill>
                  <a:srgbClr val="000000"/>
                </a:solidFill>
                <a:latin typeface="Calibri" pitchFamily="34" charset="0"/>
                <a:ea typeface="Calibri" pitchFamily="34" charset="0"/>
                <a:cs typeface="Calibri" pitchFamily="34" charset="0"/>
                <a:sym typeface="Arial"/>
              </a:rPr>
              <a:t>Qatar &amp; Sri Lanka Have Low </a:t>
            </a:r>
            <a:r>
              <a:rPr lang="en-GB" sz="1600" dirty="0" err="1">
                <a:solidFill>
                  <a:srgbClr val="000000"/>
                </a:solidFill>
                <a:latin typeface="Calibri" pitchFamily="34" charset="0"/>
                <a:ea typeface="Calibri" pitchFamily="34" charset="0"/>
                <a:cs typeface="Calibri" pitchFamily="34" charset="0"/>
                <a:sym typeface="Arial"/>
              </a:rPr>
              <a:t>Competition.</a:t>
            </a:r>
            <a:r>
              <a:rPr lang="en-GB" sz="1600" b="1" dirty="0" err="1">
                <a:solidFill>
                  <a:srgbClr val="000000"/>
                </a:solidFill>
                <a:latin typeface="Calibri" pitchFamily="34" charset="0"/>
                <a:ea typeface="Calibri" pitchFamily="34" charset="0"/>
                <a:cs typeface="Calibri" pitchFamily="34" charset="0"/>
                <a:sym typeface="Arial"/>
              </a:rPr>
              <a:t>Only</a:t>
            </a:r>
            <a:r>
              <a:rPr lang="en-GB" sz="1600" b="1" dirty="0">
                <a:solidFill>
                  <a:srgbClr val="000000"/>
                </a:solidFill>
                <a:latin typeface="Calibri" pitchFamily="34" charset="0"/>
                <a:ea typeface="Calibri" pitchFamily="34" charset="0"/>
                <a:cs typeface="Calibri" pitchFamily="34" charset="0"/>
                <a:sym typeface="Arial"/>
              </a:rPr>
              <a:t> 20 restaurants each</a:t>
            </a:r>
            <a:r>
              <a:rPr lang="en-GB" sz="1600" dirty="0">
                <a:solidFill>
                  <a:srgbClr val="000000"/>
                </a:solidFill>
                <a:latin typeface="Calibri" pitchFamily="34" charset="0"/>
                <a:ea typeface="Calibri" pitchFamily="34" charset="0"/>
                <a:cs typeface="Calibri" pitchFamily="34" charset="0"/>
                <a:sym typeface="Arial"/>
              </a:rPr>
              <a:t> → Indicating </a:t>
            </a:r>
            <a:r>
              <a:rPr lang="en-GB" sz="1600" b="1" dirty="0">
                <a:solidFill>
                  <a:srgbClr val="000000"/>
                </a:solidFill>
                <a:latin typeface="Calibri" pitchFamily="34" charset="0"/>
                <a:ea typeface="Calibri" pitchFamily="34" charset="0"/>
                <a:cs typeface="Calibri" pitchFamily="34" charset="0"/>
                <a:sym typeface="Arial"/>
              </a:rPr>
              <a:t>potential</a:t>
            </a:r>
            <a:r>
              <a:rPr lang="en-GB" sz="1600" dirty="0">
                <a:solidFill>
                  <a:srgbClr val="000000"/>
                </a:solidFill>
                <a:latin typeface="Calibri" pitchFamily="34" charset="0"/>
                <a:ea typeface="Calibri" pitchFamily="34" charset="0"/>
                <a:cs typeface="Calibri" pitchFamily="34" charset="0"/>
                <a:sym typeface="Arial"/>
              </a:rPr>
              <a:t> for new business </a:t>
            </a:r>
            <a:r>
              <a:rPr lang="en-GB" sz="1600" dirty="0" err="1">
                <a:solidFill>
                  <a:srgbClr val="000000"/>
                </a:solidFill>
                <a:latin typeface="Calibri" pitchFamily="34" charset="0"/>
                <a:ea typeface="Calibri" pitchFamily="34" charset="0"/>
                <a:cs typeface="Calibri" pitchFamily="34" charset="0"/>
                <a:sym typeface="Arial"/>
              </a:rPr>
              <a:t>expansion.These</a:t>
            </a:r>
            <a:r>
              <a:rPr lang="en-GB" sz="1600" dirty="0">
                <a:solidFill>
                  <a:srgbClr val="000000"/>
                </a:solidFill>
                <a:latin typeface="Calibri" pitchFamily="34" charset="0"/>
                <a:ea typeface="Calibri" pitchFamily="34" charset="0"/>
                <a:cs typeface="Calibri" pitchFamily="34" charset="0"/>
                <a:sym typeface="Arial"/>
              </a:rPr>
              <a:t> countries could be </a:t>
            </a:r>
            <a:r>
              <a:rPr lang="en-GB" sz="1600" b="1" dirty="0">
                <a:solidFill>
                  <a:srgbClr val="000000"/>
                </a:solidFill>
                <a:latin typeface="Calibri" pitchFamily="34" charset="0"/>
                <a:ea typeface="Calibri" pitchFamily="34" charset="0"/>
                <a:cs typeface="Calibri" pitchFamily="34" charset="0"/>
                <a:sym typeface="Arial"/>
              </a:rPr>
              <a:t>ideal for launching new restaurants</a:t>
            </a:r>
            <a:r>
              <a:rPr lang="en-GB" sz="1600" dirty="0">
                <a:solidFill>
                  <a:srgbClr val="000000"/>
                </a:solidFill>
                <a:latin typeface="Calibri" pitchFamily="34" charset="0"/>
                <a:ea typeface="Calibri" pitchFamily="34" charset="0"/>
                <a:cs typeface="Calibri" pitchFamily="34" charset="0"/>
                <a:sym typeface="Arial"/>
              </a:rPr>
              <a:t> with lower competition</a:t>
            </a:r>
            <a:endParaRPr sz="1600" dirty="0">
              <a:solidFill>
                <a:srgbClr val="000000"/>
              </a:solidFill>
              <a:latin typeface="Calibri" pitchFamily="34" charset="0"/>
              <a:ea typeface="Calibri" pitchFamily="34" charset="0"/>
              <a:cs typeface="Calibri" pitchFamily="34" charset="0"/>
              <a:sym typeface="Arial"/>
            </a:endParaRPr>
          </a:p>
          <a:p>
            <a:pPr marL="457200" lvl="0" indent="-317500" algn="l" rtl="0">
              <a:spcBef>
                <a:spcPts val="0"/>
              </a:spcBef>
              <a:spcAft>
                <a:spcPts val="0"/>
              </a:spcAft>
              <a:buClr>
                <a:srgbClr val="000000"/>
              </a:buClr>
              <a:buSzPts val="1400"/>
              <a:buFont typeface="Arial"/>
              <a:buChar char="●"/>
            </a:pPr>
            <a:r>
              <a:rPr lang="en-GB" sz="1600" b="1" dirty="0">
                <a:solidFill>
                  <a:srgbClr val="000000"/>
                </a:solidFill>
                <a:latin typeface="Calibri" pitchFamily="34" charset="0"/>
                <a:ea typeface="Calibri" pitchFamily="34" charset="0"/>
                <a:cs typeface="Calibri" pitchFamily="34" charset="0"/>
                <a:sym typeface="Arial"/>
              </a:rPr>
              <a:t>Australia, Canada, Singapore, &amp; New Zealand Have Minimal Presence</a:t>
            </a:r>
            <a:r>
              <a:rPr lang="en-GB" sz="1600" dirty="0">
                <a:solidFill>
                  <a:srgbClr val="000000"/>
                </a:solidFill>
                <a:latin typeface="Calibri" pitchFamily="34" charset="0"/>
                <a:ea typeface="Calibri" pitchFamily="34" charset="0"/>
                <a:cs typeface="Calibri" pitchFamily="34" charset="0"/>
                <a:sym typeface="Arial"/>
              </a:rPr>
              <a:t> .Fewer than </a:t>
            </a:r>
            <a:r>
              <a:rPr lang="en-GB" sz="1600" b="1" dirty="0">
                <a:solidFill>
                  <a:srgbClr val="000000"/>
                </a:solidFill>
                <a:latin typeface="Calibri" pitchFamily="34" charset="0"/>
                <a:ea typeface="Calibri" pitchFamily="34" charset="0"/>
                <a:cs typeface="Calibri" pitchFamily="34" charset="0"/>
                <a:sym typeface="Arial"/>
              </a:rPr>
              <a:t>50 restaurants in each country</a:t>
            </a:r>
            <a:r>
              <a:rPr lang="en-GB" sz="1600" dirty="0">
                <a:solidFill>
                  <a:srgbClr val="000000"/>
                </a:solidFill>
                <a:latin typeface="Calibri" pitchFamily="34" charset="0"/>
                <a:ea typeface="Calibri" pitchFamily="34" charset="0"/>
                <a:cs typeface="Calibri" pitchFamily="34" charset="0"/>
                <a:sym typeface="Arial"/>
              </a:rPr>
              <a:t> → Scope for </a:t>
            </a:r>
            <a:r>
              <a:rPr lang="en-GB" sz="1600" b="1" dirty="0">
                <a:solidFill>
                  <a:srgbClr val="000000"/>
                </a:solidFill>
                <a:latin typeface="Calibri" pitchFamily="34" charset="0"/>
                <a:ea typeface="Calibri" pitchFamily="34" charset="0"/>
                <a:cs typeface="Calibri" pitchFamily="34" charset="0"/>
                <a:sym typeface="Arial"/>
              </a:rPr>
              <a:t>growth &amp; expansion</a:t>
            </a:r>
            <a:r>
              <a:rPr lang="en-GB" sz="1600" dirty="0">
                <a:solidFill>
                  <a:srgbClr val="000000"/>
                </a:solidFill>
                <a:latin typeface="Calibri" pitchFamily="34" charset="0"/>
                <a:ea typeface="Calibri" pitchFamily="34" charset="0"/>
                <a:cs typeface="Calibri" pitchFamily="34" charset="0"/>
                <a:sym typeface="Arial"/>
              </a:rPr>
              <a:t> in these markets</a:t>
            </a:r>
            <a:endParaRPr sz="1600" dirty="0">
              <a:solidFill>
                <a:srgbClr val="000000"/>
              </a:solidFill>
              <a:latin typeface="Calibri" pitchFamily="34" charset="0"/>
              <a:ea typeface="Calibri" pitchFamily="34" charset="0"/>
              <a:cs typeface="Calibri" pitchFamily="34" charset="0"/>
              <a:sym typeface="Arial"/>
            </a:endParaRPr>
          </a:p>
        </p:txBody>
      </p:sp>
      <p:pic>
        <p:nvPicPr>
          <p:cNvPr id="5" name="Google Shape;107;p19" title="Chart"/>
          <p:cNvPicPr preferRelativeResize="0"/>
          <p:nvPr/>
        </p:nvPicPr>
        <p:blipFill>
          <a:blip r:embed="rId3">
            <a:alphaModFix/>
          </a:blip>
          <a:stretch>
            <a:fillRect/>
          </a:stretch>
        </p:blipFill>
        <p:spPr>
          <a:xfrm>
            <a:off x="631592" y="637308"/>
            <a:ext cx="3697954" cy="224443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a:spLocks noGrp="1"/>
          </p:cNvSpPr>
          <p:nvPr>
            <p:ph type="body" idx="4294967295"/>
          </p:nvPr>
        </p:nvSpPr>
        <p:spPr>
          <a:xfrm>
            <a:off x="4978400" y="501650"/>
            <a:ext cx="4165600" cy="4097338"/>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Char char="●"/>
            </a:pPr>
            <a:r>
              <a:rPr lang="en-GB" sz="1600" dirty="0">
                <a:solidFill>
                  <a:srgbClr val="000000"/>
                </a:solidFill>
                <a:latin typeface="Calibri" pitchFamily="34" charset="0"/>
                <a:ea typeface="Calibri" pitchFamily="34" charset="0"/>
                <a:cs typeface="Calibri" pitchFamily="34" charset="0"/>
                <a:sym typeface="Arial"/>
              </a:rPr>
              <a:t>The number of restaurants opened each year remains </a:t>
            </a:r>
            <a:r>
              <a:rPr lang="en-GB" sz="1600" b="1" dirty="0">
                <a:solidFill>
                  <a:srgbClr val="000000"/>
                </a:solidFill>
                <a:latin typeface="Calibri" pitchFamily="34" charset="0"/>
                <a:ea typeface="Calibri" pitchFamily="34" charset="0"/>
                <a:cs typeface="Calibri" pitchFamily="34" charset="0"/>
                <a:sym typeface="Arial"/>
              </a:rPr>
              <a:t>relatively stable</a:t>
            </a:r>
            <a:r>
              <a:rPr lang="en-GB" sz="1600" dirty="0">
                <a:solidFill>
                  <a:srgbClr val="000000"/>
                </a:solidFill>
                <a:latin typeface="Calibri" pitchFamily="34" charset="0"/>
                <a:ea typeface="Calibri" pitchFamily="34" charset="0"/>
                <a:cs typeface="Calibri" pitchFamily="34" charset="0"/>
                <a:sym typeface="Arial"/>
              </a:rPr>
              <a:t>, averaging around </a:t>
            </a:r>
            <a:r>
              <a:rPr lang="en-GB" sz="1600" b="1" dirty="0">
                <a:solidFill>
                  <a:srgbClr val="000000"/>
                </a:solidFill>
                <a:latin typeface="Calibri" pitchFamily="34" charset="0"/>
                <a:ea typeface="Calibri" pitchFamily="34" charset="0"/>
                <a:cs typeface="Calibri" pitchFamily="34" charset="0"/>
                <a:sym typeface="Arial"/>
              </a:rPr>
              <a:t>1,050 per </a:t>
            </a:r>
            <a:r>
              <a:rPr lang="en-GB" sz="1600" b="1" dirty="0" err="1">
                <a:solidFill>
                  <a:srgbClr val="000000"/>
                </a:solidFill>
                <a:latin typeface="Calibri" pitchFamily="34" charset="0"/>
                <a:ea typeface="Calibri" pitchFamily="34" charset="0"/>
                <a:cs typeface="Calibri" pitchFamily="34" charset="0"/>
                <a:sym typeface="Arial"/>
              </a:rPr>
              <a:t>year</a:t>
            </a:r>
            <a:r>
              <a:rPr lang="en-GB" sz="1600" dirty="0" err="1">
                <a:solidFill>
                  <a:srgbClr val="000000"/>
                </a:solidFill>
                <a:latin typeface="Calibri" pitchFamily="34" charset="0"/>
                <a:ea typeface="Calibri" pitchFamily="34" charset="0"/>
                <a:cs typeface="Calibri" pitchFamily="34" charset="0"/>
                <a:sym typeface="Arial"/>
              </a:rPr>
              <a:t>.Indicates</a:t>
            </a:r>
            <a:r>
              <a:rPr lang="en-GB" sz="1600" dirty="0">
                <a:solidFill>
                  <a:srgbClr val="000000"/>
                </a:solidFill>
                <a:latin typeface="Calibri" pitchFamily="34" charset="0"/>
                <a:ea typeface="Calibri" pitchFamily="34" charset="0"/>
                <a:cs typeface="Calibri" pitchFamily="34" charset="0"/>
                <a:sym typeface="Arial"/>
              </a:rPr>
              <a:t> a </a:t>
            </a:r>
            <a:r>
              <a:rPr lang="en-GB" sz="1600" b="1" dirty="0">
                <a:solidFill>
                  <a:srgbClr val="000000"/>
                </a:solidFill>
                <a:latin typeface="Calibri" pitchFamily="34" charset="0"/>
                <a:ea typeface="Calibri" pitchFamily="34" charset="0"/>
                <a:cs typeface="Calibri" pitchFamily="34" charset="0"/>
                <a:sym typeface="Arial"/>
              </a:rPr>
              <a:t>consistent demand</a:t>
            </a:r>
            <a:r>
              <a:rPr lang="en-GB" sz="1600" dirty="0">
                <a:solidFill>
                  <a:srgbClr val="000000"/>
                </a:solidFill>
                <a:latin typeface="Calibri" pitchFamily="34" charset="0"/>
                <a:ea typeface="Calibri" pitchFamily="34" charset="0"/>
                <a:cs typeface="Calibri" pitchFamily="34" charset="0"/>
                <a:sym typeface="Arial"/>
              </a:rPr>
              <a:t> for new restaurant ventures</a:t>
            </a:r>
            <a:endParaRPr sz="1600" dirty="0">
              <a:solidFill>
                <a:srgbClr val="000000"/>
              </a:solidFill>
              <a:latin typeface="Calibri" pitchFamily="34" charset="0"/>
              <a:ea typeface="Calibri" pitchFamily="34" charset="0"/>
              <a:cs typeface="Calibri" pitchFamily="34" charset="0"/>
              <a:sym typeface="Arial"/>
            </a:endParaRPr>
          </a:p>
          <a:p>
            <a:pPr marL="457200" lvl="0" indent="-317500" algn="l" rtl="0">
              <a:spcBef>
                <a:spcPts val="0"/>
              </a:spcBef>
              <a:spcAft>
                <a:spcPts val="0"/>
              </a:spcAft>
              <a:buClr>
                <a:srgbClr val="000000"/>
              </a:buClr>
              <a:buSzPts val="1400"/>
              <a:buFont typeface="Arial"/>
              <a:buChar char="●"/>
            </a:pPr>
            <a:r>
              <a:rPr lang="en-GB" sz="1600" b="1" dirty="0">
                <a:solidFill>
                  <a:srgbClr val="000000"/>
                </a:solidFill>
                <a:latin typeface="Calibri" pitchFamily="34" charset="0"/>
                <a:ea typeface="Calibri" pitchFamily="34" charset="0"/>
                <a:cs typeface="Calibri" pitchFamily="34" charset="0"/>
                <a:sym typeface="Arial"/>
              </a:rPr>
              <a:t>2018 saw the highest</a:t>
            </a:r>
            <a:r>
              <a:rPr lang="en-GB" sz="1600" dirty="0">
                <a:solidFill>
                  <a:srgbClr val="000000"/>
                </a:solidFill>
                <a:latin typeface="Calibri" pitchFamily="34" charset="0"/>
                <a:ea typeface="Calibri" pitchFamily="34" charset="0"/>
                <a:cs typeface="Calibri" pitchFamily="34" charset="0"/>
                <a:sym typeface="Arial"/>
              </a:rPr>
              <a:t> number of restaurant openings, suggesting </a:t>
            </a:r>
            <a:r>
              <a:rPr lang="en-GB" sz="1600" b="1" dirty="0">
                <a:solidFill>
                  <a:srgbClr val="000000"/>
                </a:solidFill>
                <a:latin typeface="Calibri" pitchFamily="34" charset="0"/>
                <a:ea typeface="Calibri" pitchFamily="34" charset="0"/>
                <a:cs typeface="Calibri" pitchFamily="34" charset="0"/>
                <a:sym typeface="Arial"/>
              </a:rPr>
              <a:t>strong market confidence</a:t>
            </a:r>
            <a:endParaRPr sz="1600" b="1" dirty="0">
              <a:solidFill>
                <a:srgbClr val="000000"/>
              </a:solidFill>
              <a:latin typeface="Calibri" pitchFamily="34" charset="0"/>
              <a:ea typeface="Calibri" pitchFamily="34" charset="0"/>
              <a:cs typeface="Calibri" pitchFamily="34" charset="0"/>
              <a:sym typeface="Arial"/>
            </a:endParaRPr>
          </a:p>
          <a:p>
            <a:pPr marL="457200" lvl="0" indent="-317500" algn="l" rtl="0">
              <a:spcBef>
                <a:spcPts val="0"/>
              </a:spcBef>
              <a:spcAft>
                <a:spcPts val="0"/>
              </a:spcAft>
              <a:buClr>
                <a:srgbClr val="000000"/>
              </a:buClr>
              <a:buSzPts val="1400"/>
              <a:buFont typeface="Arial"/>
              <a:buChar char="●"/>
            </a:pPr>
            <a:r>
              <a:rPr lang="en-GB" sz="1600" b="1" dirty="0">
                <a:solidFill>
                  <a:srgbClr val="000000"/>
                </a:solidFill>
                <a:latin typeface="Calibri" pitchFamily="34" charset="0"/>
                <a:ea typeface="Calibri" pitchFamily="34" charset="0"/>
                <a:cs typeface="Calibri" pitchFamily="34" charset="0"/>
                <a:sym typeface="Arial"/>
              </a:rPr>
              <a:t>2012 (1,022) and 2015 (1,024) had lower openings</a:t>
            </a:r>
            <a:endParaRPr sz="1600" b="1" dirty="0">
              <a:solidFill>
                <a:srgbClr val="000000"/>
              </a:solidFill>
              <a:latin typeface="Calibri" pitchFamily="34" charset="0"/>
              <a:ea typeface="Calibri" pitchFamily="34" charset="0"/>
              <a:cs typeface="Calibri" pitchFamily="34" charset="0"/>
              <a:sym typeface="Arial"/>
            </a:endParaRPr>
          </a:p>
          <a:p>
            <a:pPr marL="457200" lvl="0" indent="-317500" algn="l" rtl="0">
              <a:spcBef>
                <a:spcPts val="0"/>
              </a:spcBef>
              <a:spcAft>
                <a:spcPts val="0"/>
              </a:spcAft>
              <a:buClr>
                <a:srgbClr val="000000"/>
              </a:buClr>
              <a:buSzPts val="1400"/>
              <a:buFont typeface="Arial"/>
              <a:buChar char="●"/>
            </a:pPr>
            <a:r>
              <a:rPr lang="en-GB" sz="1600" dirty="0">
                <a:solidFill>
                  <a:srgbClr val="000000"/>
                </a:solidFill>
                <a:latin typeface="Calibri" pitchFamily="34" charset="0"/>
                <a:ea typeface="Calibri" pitchFamily="34" charset="0"/>
                <a:cs typeface="Calibri" pitchFamily="34" charset="0"/>
                <a:sym typeface="Arial"/>
              </a:rPr>
              <a:t>A steady </a:t>
            </a:r>
            <a:r>
              <a:rPr lang="en-GB" sz="1600" b="1" dirty="0">
                <a:solidFill>
                  <a:srgbClr val="000000"/>
                </a:solidFill>
                <a:latin typeface="Calibri" pitchFamily="34" charset="0"/>
                <a:ea typeface="Calibri" pitchFamily="34" charset="0"/>
                <a:cs typeface="Calibri" pitchFamily="34" charset="0"/>
                <a:sym typeface="Arial"/>
              </a:rPr>
              <a:t>upward trend in recent years (2016-2018)</a:t>
            </a:r>
            <a:r>
              <a:rPr lang="en-GB" sz="1600" dirty="0">
                <a:solidFill>
                  <a:srgbClr val="000000"/>
                </a:solidFill>
                <a:latin typeface="Calibri" pitchFamily="34" charset="0"/>
                <a:ea typeface="Calibri" pitchFamily="34" charset="0"/>
                <a:cs typeface="Calibri" pitchFamily="34" charset="0"/>
                <a:sym typeface="Arial"/>
              </a:rPr>
              <a:t> indicates </a:t>
            </a:r>
            <a:r>
              <a:rPr lang="en-GB" sz="1600" b="1" dirty="0">
                <a:solidFill>
                  <a:srgbClr val="000000"/>
                </a:solidFill>
                <a:latin typeface="Calibri" pitchFamily="34" charset="0"/>
                <a:ea typeface="Calibri" pitchFamily="34" charset="0"/>
                <a:cs typeface="Calibri" pitchFamily="34" charset="0"/>
                <a:sym typeface="Arial"/>
              </a:rPr>
              <a:t>increasing opportunities</a:t>
            </a:r>
            <a:r>
              <a:rPr lang="en-GB" sz="1600" dirty="0">
                <a:solidFill>
                  <a:srgbClr val="000000"/>
                </a:solidFill>
                <a:latin typeface="Calibri" pitchFamily="34" charset="0"/>
                <a:ea typeface="Calibri" pitchFamily="34" charset="0"/>
                <a:cs typeface="Calibri" pitchFamily="34" charset="0"/>
                <a:sym typeface="Arial"/>
              </a:rPr>
              <a:t> for new restaurants</a:t>
            </a:r>
            <a:r>
              <a:rPr lang="en-GB" sz="1400" dirty="0">
                <a:solidFill>
                  <a:srgbClr val="000000"/>
                </a:solidFill>
                <a:latin typeface="Arial"/>
                <a:ea typeface="Arial"/>
                <a:cs typeface="Arial"/>
                <a:sym typeface="Arial"/>
              </a:rPr>
              <a:t>.</a:t>
            </a:r>
            <a:endParaRPr sz="1400" b="1" dirty="0">
              <a:solidFill>
                <a:srgbClr val="000000"/>
              </a:solidFill>
              <a:latin typeface="Arial"/>
              <a:ea typeface="Arial"/>
              <a:cs typeface="Arial"/>
              <a:sym typeface="Arial"/>
            </a:endParaRPr>
          </a:p>
        </p:txBody>
      </p:sp>
      <p:sp>
        <p:nvSpPr>
          <p:cNvPr id="114" name="Google Shape;114;p20"/>
          <p:cNvSpPr txBox="1"/>
          <p:nvPr/>
        </p:nvSpPr>
        <p:spPr>
          <a:xfrm>
            <a:off x="121550" y="122625"/>
            <a:ext cx="4568214" cy="58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800" dirty="0">
                <a:solidFill>
                  <a:schemeClr val="tx1"/>
                </a:solidFill>
                <a:latin typeface="Calibri" pitchFamily="34" charset="0"/>
                <a:ea typeface="Calibri" pitchFamily="34" charset="0"/>
                <a:cs typeface="Calibri" pitchFamily="34" charset="0"/>
                <a:sym typeface="Roboto"/>
              </a:rPr>
              <a:t>Restaurants opened each year</a:t>
            </a:r>
            <a:endParaRPr sz="2800" dirty="0">
              <a:solidFill>
                <a:schemeClr val="tx1"/>
              </a:solidFill>
              <a:latin typeface="Calibri" pitchFamily="34" charset="0"/>
              <a:ea typeface="Calibri" pitchFamily="34" charset="0"/>
              <a:cs typeface="Calibri" pitchFamily="34" charset="0"/>
              <a:sym typeface="Roboto"/>
            </a:endParaRPr>
          </a:p>
        </p:txBody>
      </p:sp>
      <p:pic>
        <p:nvPicPr>
          <p:cNvPr id="5" name="Google Shape;119;p21" title="Chart"/>
          <p:cNvPicPr preferRelativeResize="0"/>
          <p:nvPr/>
        </p:nvPicPr>
        <p:blipFill>
          <a:blip r:embed="rId3">
            <a:alphaModFix/>
          </a:blip>
          <a:stretch>
            <a:fillRect/>
          </a:stretch>
        </p:blipFill>
        <p:spPr>
          <a:xfrm>
            <a:off x="580037" y="1065443"/>
            <a:ext cx="3497064" cy="225343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2"/>
          <p:cNvSpPr txBox="1">
            <a:spLocks noGrp="1"/>
          </p:cNvSpPr>
          <p:nvPr>
            <p:ph type="body" idx="4294967295"/>
          </p:nvPr>
        </p:nvSpPr>
        <p:spPr>
          <a:xfrm>
            <a:off x="4943764" y="231486"/>
            <a:ext cx="3937000" cy="3917950"/>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SzPts val="1500"/>
              <a:buChar char="●"/>
            </a:pPr>
            <a:r>
              <a:rPr lang="en-GB" sz="1400" b="1" dirty="0">
                <a:solidFill>
                  <a:srgbClr val="000000"/>
                </a:solidFill>
                <a:latin typeface="Calibri" pitchFamily="34" charset="0"/>
                <a:ea typeface="Calibri" pitchFamily="34" charset="0"/>
                <a:cs typeface="Calibri" pitchFamily="34" charset="0"/>
                <a:sym typeface="Arial"/>
              </a:rPr>
              <a:t>Indonesia Has the Highest Average Votes (772) </a:t>
            </a:r>
            <a:r>
              <a:rPr lang="en-GB" sz="1400" dirty="0">
                <a:solidFill>
                  <a:srgbClr val="000000"/>
                </a:solidFill>
                <a:latin typeface="Calibri" pitchFamily="34" charset="0"/>
                <a:ea typeface="Calibri" pitchFamily="34" charset="0"/>
                <a:cs typeface="Calibri" pitchFamily="34" charset="0"/>
                <a:sym typeface="Arial"/>
              </a:rPr>
              <a:t>which suggest</a:t>
            </a:r>
            <a:r>
              <a:rPr lang="en-GB" sz="1400" b="1" dirty="0">
                <a:solidFill>
                  <a:srgbClr val="000000"/>
                </a:solidFill>
                <a:latin typeface="Calibri" pitchFamily="34" charset="0"/>
                <a:ea typeface="Calibri" pitchFamily="34" charset="0"/>
                <a:cs typeface="Calibri" pitchFamily="34" charset="0"/>
                <a:sym typeface="Arial"/>
              </a:rPr>
              <a:t> higher engagement</a:t>
            </a:r>
            <a:r>
              <a:rPr lang="en-GB" sz="1400" dirty="0">
                <a:solidFill>
                  <a:srgbClr val="000000"/>
                </a:solidFill>
                <a:latin typeface="Calibri" pitchFamily="34" charset="0"/>
                <a:ea typeface="Calibri" pitchFamily="34" charset="0"/>
                <a:cs typeface="Calibri" pitchFamily="34" charset="0"/>
                <a:sym typeface="Arial"/>
              </a:rPr>
              <a:t>, indicating a </a:t>
            </a:r>
            <a:r>
              <a:rPr lang="en-GB" sz="1400" b="1" dirty="0">
                <a:solidFill>
                  <a:srgbClr val="000000"/>
                </a:solidFill>
                <a:latin typeface="Calibri" pitchFamily="34" charset="0"/>
                <a:ea typeface="Calibri" pitchFamily="34" charset="0"/>
                <a:cs typeface="Calibri" pitchFamily="34" charset="0"/>
                <a:sym typeface="Arial"/>
              </a:rPr>
              <a:t>strong food culture and active customer reviews.</a:t>
            </a:r>
            <a:endParaRPr sz="1400" b="1" dirty="0">
              <a:solidFill>
                <a:srgbClr val="000000"/>
              </a:solidFill>
              <a:latin typeface="Calibri" pitchFamily="34" charset="0"/>
              <a:ea typeface="Calibri" pitchFamily="34" charset="0"/>
              <a:cs typeface="Calibri" pitchFamily="34" charset="0"/>
              <a:sym typeface="Arial"/>
            </a:endParaRPr>
          </a:p>
          <a:p>
            <a:pPr marL="457200" lvl="0" indent="-311150" algn="l" rtl="0">
              <a:spcBef>
                <a:spcPts val="0"/>
              </a:spcBef>
              <a:spcAft>
                <a:spcPts val="0"/>
              </a:spcAft>
              <a:buClr>
                <a:srgbClr val="000000"/>
              </a:buClr>
              <a:buSzPts val="1300"/>
              <a:buFont typeface="Arial"/>
              <a:buChar char="●"/>
            </a:pPr>
            <a:r>
              <a:rPr lang="en-GB" sz="1400" b="1" dirty="0">
                <a:solidFill>
                  <a:srgbClr val="000000"/>
                </a:solidFill>
                <a:latin typeface="Calibri" pitchFamily="34" charset="0"/>
                <a:ea typeface="Calibri" pitchFamily="34" charset="0"/>
                <a:cs typeface="Calibri" pitchFamily="34" charset="0"/>
                <a:sym typeface="Arial"/>
              </a:rPr>
              <a:t>United Arab Emirates (493) &amp; Turkey (431) Also Show High Engagement. They have above-average customer voting patterns</a:t>
            </a:r>
            <a:r>
              <a:rPr lang="en-GB" sz="1400" dirty="0">
                <a:solidFill>
                  <a:srgbClr val="000000"/>
                </a:solidFill>
                <a:latin typeface="Calibri" pitchFamily="34" charset="0"/>
                <a:ea typeface="Calibri" pitchFamily="34" charset="0"/>
                <a:cs typeface="Calibri" pitchFamily="34" charset="0"/>
                <a:sym typeface="Arial"/>
              </a:rPr>
              <a:t>, suggesting </a:t>
            </a:r>
            <a:r>
              <a:rPr lang="en-GB" sz="1400" b="1" dirty="0">
                <a:solidFill>
                  <a:srgbClr val="000000"/>
                </a:solidFill>
                <a:latin typeface="Calibri" pitchFamily="34" charset="0"/>
                <a:ea typeface="Calibri" pitchFamily="34" charset="0"/>
                <a:cs typeface="Calibri" pitchFamily="34" charset="0"/>
                <a:sym typeface="Arial"/>
              </a:rPr>
              <a:t>strong customer interaction.</a:t>
            </a:r>
            <a:endParaRPr sz="1400" b="1" dirty="0">
              <a:solidFill>
                <a:srgbClr val="000000"/>
              </a:solidFill>
              <a:latin typeface="Calibri" pitchFamily="34" charset="0"/>
              <a:ea typeface="Calibri" pitchFamily="34" charset="0"/>
              <a:cs typeface="Calibri" pitchFamily="34" charset="0"/>
              <a:sym typeface="Arial"/>
            </a:endParaRPr>
          </a:p>
          <a:p>
            <a:pPr marL="457200" lvl="0" indent="-311150" algn="l" rtl="0">
              <a:spcBef>
                <a:spcPts val="0"/>
              </a:spcBef>
              <a:spcAft>
                <a:spcPts val="0"/>
              </a:spcAft>
              <a:buClr>
                <a:srgbClr val="000000"/>
              </a:buClr>
              <a:buSzPts val="1300"/>
              <a:buFont typeface="Arial"/>
              <a:buChar char="●"/>
            </a:pPr>
            <a:r>
              <a:rPr lang="en-GB" sz="1400" b="1" dirty="0">
                <a:solidFill>
                  <a:srgbClr val="000000"/>
                </a:solidFill>
                <a:latin typeface="Calibri" pitchFamily="34" charset="0"/>
                <a:ea typeface="Calibri" pitchFamily="34" charset="0"/>
                <a:cs typeface="Calibri" pitchFamily="34" charset="0"/>
                <a:sym typeface="Arial"/>
              </a:rPr>
              <a:t>India Has a Moderate Voting Average (137).</a:t>
            </a:r>
            <a:r>
              <a:rPr lang="en-GB" sz="1400" dirty="0">
                <a:solidFill>
                  <a:srgbClr val="000000"/>
                </a:solidFill>
                <a:latin typeface="Calibri" pitchFamily="34" charset="0"/>
                <a:ea typeface="Calibri" pitchFamily="34" charset="0"/>
                <a:cs typeface="Calibri" pitchFamily="34" charset="0"/>
                <a:sym typeface="Arial"/>
              </a:rPr>
              <a:t>Despite </a:t>
            </a:r>
            <a:r>
              <a:rPr lang="en-GB" sz="1400" b="1" dirty="0">
                <a:solidFill>
                  <a:srgbClr val="000000"/>
                </a:solidFill>
                <a:latin typeface="Calibri" pitchFamily="34" charset="0"/>
                <a:ea typeface="Calibri" pitchFamily="34" charset="0"/>
                <a:cs typeface="Calibri" pitchFamily="34" charset="0"/>
                <a:sym typeface="Arial"/>
              </a:rPr>
              <a:t>India having the most restaurants (8,652)</a:t>
            </a:r>
            <a:r>
              <a:rPr lang="en-GB" sz="1400" dirty="0">
                <a:solidFill>
                  <a:srgbClr val="000000"/>
                </a:solidFill>
                <a:latin typeface="Calibri" pitchFamily="34" charset="0"/>
                <a:ea typeface="Calibri" pitchFamily="34" charset="0"/>
                <a:cs typeface="Calibri" pitchFamily="34" charset="0"/>
                <a:sym typeface="Arial"/>
              </a:rPr>
              <a:t>, the average votes per</a:t>
            </a:r>
            <a:r>
              <a:rPr lang="en-GB" sz="1400" b="1" dirty="0">
                <a:solidFill>
                  <a:srgbClr val="000000"/>
                </a:solidFill>
                <a:latin typeface="Calibri" pitchFamily="34" charset="0"/>
                <a:ea typeface="Calibri" pitchFamily="34" charset="0"/>
                <a:cs typeface="Calibri" pitchFamily="34" charset="0"/>
                <a:sym typeface="Arial"/>
              </a:rPr>
              <a:t> </a:t>
            </a:r>
            <a:r>
              <a:rPr lang="en-GB" sz="1400" dirty="0">
                <a:solidFill>
                  <a:srgbClr val="000000"/>
                </a:solidFill>
                <a:latin typeface="Calibri" pitchFamily="34" charset="0"/>
                <a:ea typeface="Calibri" pitchFamily="34" charset="0"/>
                <a:cs typeface="Calibri" pitchFamily="34" charset="0"/>
                <a:sym typeface="Arial"/>
              </a:rPr>
              <a:t>restaurant remain </a:t>
            </a:r>
            <a:r>
              <a:rPr lang="en-GB" sz="1400" dirty="0" err="1">
                <a:solidFill>
                  <a:srgbClr val="000000"/>
                </a:solidFill>
                <a:latin typeface="Calibri" pitchFamily="34" charset="0"/>
                <a:ea typeface="Calibri" pitchFamily="34" charset="0"/>
                <a:cs typeface="Calibri" pitchFamily="34" charset="0"/>
                <a:sym typeface="Arial"/>
              </a:rPr>
              <a:t>moderate.This</a:t>
            </a:r>
            <a:r>
              <a:rPr lang="en-GB" sz="1400" dirty="0">
                <a:solidFill>
                  <a:srgbClr val="000000"/>
                </a:solidFill>
                <a:latin typeface="Calibri" pitchFamily="34" charset="0"/>
                <a:ea typeface="Calibri" pitchFamily="34" charset="0"/>
                <a:cs typeface="Calibri" pitchFamily="34" charset="0"/>
                <a:sym typeface="Arial"/>
              </a:rPr>
              <a:t> suggests either a dispersed market or less customer engagement in voting.</a:t>
            </a:r>
            <a:endParaRPr sz="1400" dirty="0">
              <a:solidFill>
                <a:srgbClr val="000000"/>
              </a:solidFill>
              <a:latin typeface="Calibri" pitchFamily="34" charset="0"/>
              <a:ea typeface="Calibri" pitchFamily="34" charset="0"/>
              <a:cs typeface="Calibri" pitchFamily="34" charset="0"/>
              <a:sym typeface="Arial"/>
            </a:endParaRPr>
          </a:p>
          <a:p>
            <a:pPr marL="457200" lvl="0" indent="-311150" algn="l" rtl="0">
              <a:spcBef>
                <a:spcPts val="0"/>
              </a:spcBef>
              <a:spcAft>
                <a:spcPts val="0"/>
              </a:spcAft>
              <a:buClr>
                <a:srgbClr val="000000"/>
              </a:buClr>
              <a:buSzPts val="1300"/>
              <a:buFont typeface="Arial"/>
              <a:buChar char="●"/>
            </a:pPr>
            <a:r>
              <a:rPr lang="en-GB" sz="1400" dirty="0">
                <a:solidFill>
                  <a:srgbClr val="000000"/>
                </a:solidFill>
                <a:latin typeface="Calibri" pitchFamily="34" charset="0"/>
                <a:ea typeface="Calibri" pitchFamily="34" charset="0"/>
                <a:cs typeface="Calibri" pitchFamily="34" charset="0"/>
                <a:sym typeface="Arial"/>
              </a:rPr>
              <a:t>Countries with Low Engagement: </a:t>
            </a:r>
            <a:r>
              <a:rPr lang="en-GB" sz="1400" b="1" dirty="0">
                <a:solidFill>
                  <a:srgbClr val="000000"/>
                </a:solidFill>
                <a:latin typeface="Calibri" pitchFamily="34" charset="0"/>
                <a:ea typeface="Calibri" pitchFamily="34" charset="0"/>
                <a:cs typeface="Calibri" pitchFamily="34" charset="0"/>
                <a:sym typeface="Arial"/>
              </a:rPr>
              <a:t>Brazil (19), Singapore (31) </a:t>
            </a:r>
            <a:r>
              <a:rPr lang="en-GB" sz="1400" dirty="0">
                <a:solidFill>
                  <a:srgbClr val="000000"/>
                </a:solidFill>
                <a:latin typeface="Calibri" pitchFamily="34" charset="0"/>
                <a:ea typeface="Calibri" pitchFamily="34" charset="0"/>
                <a:cs typeface="Calibri" pitchFamily="34" charset="0"/>
                <a:sym typeface="Arial"/>
              </a:rPr>
              <a:t>Brazil &amp; Singapore have the lowest average votes</a:t>
            </a:r>
            <a:endParaRPr sz="1400" dirty="0">
              <a:solidFill>
                <a:srgbClr val="000000"/>
              </a:solidFill>
              <a:latin typeface="Calibri" pitchFamily="34" charset="0"/>
              <a:ea typeface="Calibri" pitchFamily="34" charset="0"/>
              <a:cs typeface="Calibri" pitchFamily="34" charset="0"/>
              <a:sym typeface="Arial"/>
            </a:endParaRPr>
          </a:p>
          <a:p>
            <a:pPr marL="457200" lvl="0" indent="0" algn="l" rtl="0">
              <a:spcBef>
                <a:spcPts val="1200"/>
              </a:spcBef>
              <a:spcAft>
                <a:spcPts val="1200"/>
              </a:spcAft>
              <a:buNone/>
            </a:pPr>
            <a:endParaRPr sz="1400" dirty="0">
              <a:solidFill>
                <a:srgbClr val="000000"/>
              </a:solidFill>
              <a:latin typeface="Arial"/>
              <a:ea typeface="Arial"/>
              <a:cs typeface="Arial"/>
              <a:sym typeface="Arial"/>
            </a:endParaRPr>
          </a:p>
        </p:txBody>
      </p:sp>
      <p:pic>
        <p:nvPicPr>
          <p:cNvPr id="4" name="Google Shape;130;p23" title="Chart"/>
          <p:cNvPicPr preferRelativeResize="0"/>
          <p:nvPr/>
        </p:nvPicPr>
        <p:blipFill>
          <a:blip r:embed="rId3">
            <a:alphaModFix/>
          </a:blip>
          <a:stretch>
            <a:fillRect/>
          </a:stretch>
        </p:blipFill>
        <p:spPr>
          <a:xfrm>
            <a:off x="391802" y="1224057"/>
            <a:ext cx="3896181" cy="228114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5"/>
          <p:cNvSpPr txBox="1"/>
          <p:nvPr/>
        </p:nvSpPr>
        <p:spPr>
          <a:xfrm>
            <a:off x="4571875" y="3086175"/>
            <a:ext cx="4259400" cy="16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300">
              <a:solidFill>
                <a:schemeClr val="dk2"/>
              </a:solidFill>
              <a:latin typeface="Roboto"/>
              <a:ea typeface="Roboto"/>
              <a:cs typeface="Roboto"/>
              <a:sym typeface="Roboto"/>
            </a:endParaRPr>
          </a:p>
        </p:txBody>
      </p:sp>
      <p:sp>
        <p:nvSpPr>
          <p:cNvPr id="141" name="Google Shape;141;p25"/>
          <p:cNvSpPr txBox="1"/>
          <p:nvPr/>
        </p:nvSpPr>
        <p:spPr>
          <a:xfrm>
            <a:off x="232050" y="72400"/>
            <a:ext cx="85491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2800" b="1" dirty="0">
                <a:latin typeface="Calibri" pitchFamily="34" charset="0"/>
                <a:ea typeface="Calibri" pitchFamily="34" charset="0"/>
                <a:cs typeface="Calibri" pitchFamily="34" charset="0"/>
              </a:rPr>
              <a:t>Countries where the team can open newer restaurants with lesser competition</a:t>
            </a:r>
            <a:endParaRPr sz="2800" b="1" dirty="0">
              <a:solidFill>
                <a:schemeClr val="dk2"/>
              </a:solidFill>
              <a:latin typeface="Calibri" pitchFamily="34" charset="0"/>
              <a:ea typeface="Calibri" pitchFamily="34" charset="0"/>
              <a:cs typeface="Calibri" pitchFamily="34" charset="0"/>
              <a:sym typeface="Roboto"/>
            </a:endParaRPr>
          </a:p>
        </p:txBody>
      </p:sp>
      <p:pic>
        <p:nvPicPr>
          <p:cNvPr id="145" name="Google Shape;145;p25"/>
          <p:cNvPicPr preferRelativeResize="0"/>
          <p:nvPr/>
        </p:nvPicPr>
        <p:blipFill>
          <a:blip r:embed="rId3">
            <a:alphaModFix/>
          </a:blip>
          <a:stretch>
            <a:fillRect/>
          </a:stretch>
        </p:blipFill>
        <p:spPr>
          <a:xfrm>
            <a:off x="3119084" y="1254698"/>
            <a:ext cx="2289625" cy="1501567"/>
          </a:xfrm>
          <a:prstGeom prst="rect">
            <a:avLst/>
          </a:prstGeom>
          <a:noFill/>
          <a:ln>
            <a:noFill/>
          </a:ln>
        </p:spPr>
      </p:pic>
      <p:sp>
        <p:nvSpPr>
          <p:cNvPr id="146" name="Google Shape;146;p25"/>
          <p:cNvSpPr txBox="1"/>
          <p:nvPr/>
        </p:nvSpPr>
        <p:spPr>
          <a:xfrm>
            <a:off x="815250" y="2675308"/>
            <a:ext cx="7965900" cy="963310"/>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0"/>
              </a:spcBef>
              <a:spcAft>
                <a:spcPts val="0"/>
              </a:spcAft>
              <a:buNone/>
            </a:pPr>
            <a:endParaRPr sz="1200" dirty="0"/>
          </a:p>
          <a:p>
            <a:pPr marL="457200" lvl="0" indent="0" algn="l" rtl="0">
              <a:lnSpc>
                <a:spcPct val="115000"/>
              </a:lnSpc>
              <a:spcBef>
                <a:spcPts val="0"/>
              </a:spcBef>
              <a:spcAft>
                <a:spcPts val="0"/>
              </a:spcAft>
              <a:buNone/>
            </a:pPr>
            <a:r>
              <a:rPr lang="en-GB" sz="1600" dirty="0">
                <a:latin typeface="Calibri" pitchFamily="34" charset="0"/>
                <a:ea typeface="Calibri" pitchFamily="34" charset="0"/>
                <a:cs typeface="Calibri" pitchFamily="34" charset="0"/>
              </a:rPr>
              <a:t>The most suitable countries for opening new restaurants are those where:</a:t>
            </a:r>
            <a:endParaRPr sz="1600" dirty="0">
              <a:latin typeface="Calibri" pitchFamily="34" charset="0"/>
              <a:ea typeface="Calibri" pitchFamily="34" charset="0"/>
              <a:cs typeface="Calibri" pitchFamily="34" charset="0"/>
            </a:endParaRPr>
          </a:p>
          <a:p>
            <a:pPr marL="914400" lvl="0" indent="-304800" algn="l" rtl="0">
              <a:lnSpc>
                <a:spcPct val="115000"/>
              </a:lnSpc>
              <a:spcBef>
                <a:spcPts val="0"/>
              </a:spcBef>
              <a:spcAft>
                <a:spcPts val="0"/>
              </a:spcAft>
              <a:buSzPts val="1200"/>
              <a:buFont typeface="Noto Sans Symbols"/>
              <a:buChar char="●"/>
            </a:pPr>
            <a:r>
              <a:rPr lang="en-GB" sz="1600" dirty="0">
                <a:latin typeface="Calibri" pitchFamily="34" charset="0"/>
                <a:ea typeface="Calibri" pitchFamily="34" charset="0"/>
                <a:cs typeface="Calibri" pitchFamily="34" charset="0"/>
              </a:rPr>
              <a:t>The average ratings are higher than 3.9</a:t>
            </a:r>
            <a:r>
              <a:rPr lang="en-GB" sz="1600" dirty="0" smtClean="0">
                <a:latin typeface="Calibri" pitchFamily="34" charset="0"/>
                <a:ea typeface="Calibri" pitchFamily="34" charset="0"/>
                <a:cs typeface="Calibri" pitchFamily="34" charset="0"/>
              </a:rPr>
              <a:t>.</a:t>
            </a:r>
            <a:endParaRPr sz="1600" dirty="0">
              <a:latin typeface="Calibri" pitchFamily="34" charset="0"/>
              <a:ea typeface="Calibri" pitchFamily="34" charset="0"/>
              <a:cs typeface="Calibri"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1" name="Google Shape;141;p25"/>
          <p:cNvSpPr txBox="1"/>
          <p:nvPr/>
        </p:nvSpPr>
        <p:spPr>
          <a:xfrm>
            <a:off x="232050" y="72400"/>
            <a:ext cx="85491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2800" b="1" dirty="0">
                <a:latin typeface="Calibri" pitchFamily="34" charset="0"/>
                <a:ea typeface="Calibri" pitchFamily="34" charset="0"/>
                <a:cs typeface="Calibri" pitchFamily="34" charset="0"/>
              </a:rPr>
              <a:t>Countries where the team can open newer restaurants with lesser competition</a:t>
            </a:r>
            <a:endParaRPr sz="2800" b="1" dirty="0">
              <a:solidFill>
                <a:schemeClr val="dk2"/>
              </a:solidFill>
              <a:latin typeface="Calibri" pitchFamily="34" charset="0"/>
              <a:ea typeface="Calibri" pitchFamily="34" charset="0"/>
              <a:cs typeface="Calibri" pitchFamily="34" charset="0"/>
              <a:sym typeface="Roboto"/>
            </a:endParaRPr>
          </a:p>
        </p:txBody>
      </p:sp>
      <p:pic>
        <p:nvPicPr>
          <p:cNvPr id="144" name="Google Shape;144;p25"/>
          <p:cNvPicPr preferRelativeResize="0"/>
          <p:nvPr/>
        </p:nvPicPr>
        <p:blipFill>
          <a:blip r:embed="rId3">
            <a:alphaModFix/>
          </a:blip>
          <a:stretch>
            <a:fillRect/>
          </a:stretch>
        </p:blipFill>
        <p:spPr>
          <a:xfrm>
            <a:off x="3108044" y="1220063"/>
            <a:ext cx="2239809" cy="1501567"/>
          </a:xfrm>
          <a:prstGeom prst="rect">
            <a:avLst/>
          </a:prstGeom>
          <a:noFill/>
          <a:ln>
            <a:noFill/>
          </a:ln>
        </p:spPr>
      </p:pic>
      <p:sp>
        <p:nvSpPr>
          <p:cNvPr id="146" name="Google Shape;146;p25"/>
          <p:cNvSpPr txBox="1"/>
          <p:nvPr/>
        </p:nvSpPr>
        <p:spPr>
          <a:xfrm>
            <a:off x="724541" y="2774791"/>
            <a:ext cx="7965900" cy="1034099"/>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0"/>
              </a:spcBef>
              <a:spcAft>
                <a:spcPts val="0"/>
              </a:spcAft>
              <a:buNone/>
            </a:pPr>
            <a:endParaRPr sz="1600" dirty="0">
              <a:latin typeface="Calibri" pitchFamily="34" charset="0"/>
              <a:ea typeface="Calibri" pitchFamily="34" charset="0"/>
              <a:cs typeface="Calibri" pitchFamily="34" charset="0"/>
            </a:endParaRPr>
          </a:p>
          <a:p>
            <a:pPr marL="457200" lvl="0" indent="0" algn="l" rtl="0">
              <a:lnSpc>
                <a:spcPct val="115000"/>
              </a:lnSpc>
              <a:spcBef>
                <a:spcPts val="0"/>
              </a:spcBef>
              <a:spcAft>
                <a:spcPts val="0"/>
              </a:spcAft>
              <a:buNone/>
            </a:pPr>
            <a:r>
              <a:rPr lang="en-GB" sz="1600" dirty="0">
                <a:latin typeface="Calibri" pitchFamily="34" charset="0"/>
                <a:ea typeface="Calibri" pitchFamily="34" charset="0"/>
                <a:cs typeface="Calibri" pitchFamily="34" charset="0"/>
              </a:rPr>
              <a:t>The most suitable countries for opening new restaurants are those where:</a:t>
            </a:r>
            <a:endParaRPr sz="1600" dirty="0">
              <a:latin typeface="Calibri" pitchFamily="34" charset="0"/>
              <a:ea typeface="Calibri" pitchFamily="34" charset="0"/>
              <a:cs typeface="Calibri" pitchFamily="34" charset="0"/>
            </a:endParaRPr>
          </a:p>
          <a:p>
            <a:pPr marL="914400" lvl="0" indent="-304800" algn="l" rtl="0">
              <a:lnSpc>
                <a:spcPct val="115000"/>
              </a:lnSpc>
              <a:spcBef>
                <a:spcPts val="0"/>
              </a:spcBef>
              <a:spcAft>
                <a:spcPts val="0"/>
              </a:spcAft>
              <a:buSzPts val="1200"/>
              <a:buFont typeface="Noto Sans Symbols"/>
              <a:buChar char="●"/>
            </a:pPr>
            <a:r>
              <a:rPr lang="en-GB" sz="1600" dirty="0" smtClean="0">
                <a:latin typeface="Calibri" pitchFamily="34" charset="0"/>
                <a:ea typeface="Calibri" pitchFamily="34" charset="0"/>
                <a:cs typeface="Calibri" pitchFamily="34" charset="0"/>
              </a:rPr>
              <a:t>The </a:t>
            </a:r>
            <a:r>
              <a:rPr lang="en-GB" sz="1600" dirty="0">
                <a:latin typeface="Calibri" pitchFamily="34" charset="0"/>
                <a:ea typeface="Calibri" pitchFamily="34" charset="0"/>
                <a:cs typeface="Calibri" pitchFamily="34" charset="0"/>
              </a:rPr>
              <a:t>total number of restaurants is less than 50</a:t>
            </a:r>
            <a:r>
              <a:rPr lang="en-GB" sz="1600" dirty="0" smtClean="0">
                <a:latin typeface="Calibri" pitchFamily="34" charset="0"/>
                <a:ea typeface="Calibri" pitchFamily="34" charset="0"/>
                <a:cs typeface="Calibri" pitchFamily="34" charset="0"/>
              </a:rPr>
              <a:t>.</a:t>
            </a:r>
            <a:endParaRPr sz="1600" dirty="0">
              <a:latin typeface="Calibri" pitchFamily="34" charset="0"/>
              <a:ea typeface="Calibri" pitchFamily="34" charset="0"/>
              <a:cs typeface="Calibri" pitchFamily="34" charset="0"/>
            </a:endParaRPr>
          </a:p>
        </p:txBody>
      </p:sp>
    </p:spTree>
    <p:extLst>
      <p:ext uri="{BB962C8B-B14F-4D97-AF65-F5344CB8AC3E}">
        <p14:creationId xmlns:p14="http://schemas.microsoft.com/office/powerpoint/2010/main" val="1016682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5"/>
          <p:cNvSpPr txBox="1"/>
          <p:nvPr/>
        </p:nvSpPr>
        <p:spPr>
          <a:xfrm>
            <a:off x="4571875" y="3086175"/>
            <a:ext cx="4259400" cy="16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300">
              <a:solidFill>
                <a:schemeClr val="dk2"/>
              </a:solidFill>
              <a:latin typeface="Roboto"/>
              <a:ea typeface="Roboto"/>
              <a:cs typeface="Roboto"/>
              <a:sym typeface="Roboto"/>
            </a:endParaRPr>
          </a:p>
        </p:txBody>
      </p:sp>
      <p:sp>
        <p:nvSpPr>
          <p:cNvPr id="141" name="Google Shape;141;p25"/>
          <p:cNvSpPr txBox="1"/>
          <p:nvPr/>
        </p:nvSpPr>
        <p:spPr>
          <a:xfrm>
            <a:off x="232050" y="72400"/>
            <a:ext cx="85491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1700" b="1"/>
              <a:t>Countries where the team can open newer restaurants with lesser competition</a:t>
            </a:r>
            <a:endParaRPr sz="1800" b="1">
              <a:solidFill>
                <a:schemeClr val="dk2"/>
              </a:solidFill>
              <a:latin typeface="Roboto"/>
              <a:ea typeface="Roboto"/>
              <a:cs typeface="Roboto"/>
              <a:sym typeface="Roboto"/>
            </a:endParaRPr>
          </a:p>
        </p:txBody>
      </p:sp>
      <p:pic>
        <p:nvPicPr>
          <p:cNvPr id="143" name="Google Shape;143;p25"/>
          <p:cNvPicPr preferRelativeResize="0"/>
          <p:nvPr/>
        </p:nvPicPr>
        <p:blipFill>
          <a:blip r:embed="rId3">
            <a:alphaModFix/>
          </a:blip>
          <a:stretch>
            <a:fillRect/>
          </a:stretch>
        </p:blipFill>
        <p:spPr>
          <a:xfrm>
            <a:off x="2968175" y="690165"/>
            <a:ext cx="2387581" cy="1501567"/>
          </a:xfrm>
          <a:prstGeom prst="rect">
            <a:avLst/>
          </a:prstGeom>
          <a:noFill/>
          <a:ln>
            <a:noFill/>
          </a:ln>
        </p:spPr>
      </p:pic>
      <p:sp>
        <p:nvSpPr>
          <p:cNvPr id="146" name="Google Shape;146;p25"/>
          <p:cNvSpPr txBox="1"/>
          <p:nvPr/>
        </p:nvSpPr>
        <p:spPr>
          <a:xfrm>
            <a:off x="523650" y="2476725"/>
            <a:ext cx="7965900" cy="963310"/>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0"/>
              </a:spcBef>
              <a:spcAft>
                <a:spcPts val="0"/>
              </a:spcAft>
              <a:buNone/>
            </a:pPr>
            <a:endParaRPr sz="1200" dirty="0"/>
          </a:p>
          <a:p>
            <a:pPr marL="457200" lvl="0" indent="0" algn="l" rtl="0">
              <a:lnSpc>
                <a:spcPct val="115000"/>
              </a:lnSpc>
              <a:spcBef>
                <a:spcPts val="0"/>
              </a:spcBef>
              <a:spcAft>
                <a:spcPts val="0"/>
              </a:spcAft>
              <a:buNone/>
            </a:pPr>
            <a:r>
              <a:rPr lang="en-GB" sz="1600" dirty="0">
                <a:latin typeface="Calibri" pitchFamily="34" charset="0"/>
                <a:ea typeface="Calibri" pitchFamily="34" charset="0"/>
                <a:cs typeface="Calibri" pitchFamily="34" charset="0"/>
              </a:rPr>
              <a:t>The most suitable countries for opening new restaurants are those where:</a:t>
            </a:r>
            <a:endParaRPr sz="1600" dirty="0">
              <a:latin typeface="Calibri" pitchFamily="34" charset="0"/>
              <a:ea typeface="Calibri" pitchFamily="34" charset="0"/>
              <a:cs typeface="Calibri" pitchFamily="34" charset="0"/>
            </a:endParaRPr>
          </a:p>
          <a:p>
            <a:pPr marL="914400" lvl="0" indent="-304800" algn="l" rtl="0">
              <a:lnSpc>
                <a:spcPct val="115000"/>
              </a:lnSpc>
              <a:spcBef>
                <a:spcPts val="0"/>
              </a:spcBef>
              <a:spcAft>
                <a:spcPts val="0"/>
              </a:spcAft>
              <a:buSzPts val="1200"/>
              <a:buFont typeface="Noto Sans Symbols"/>
              <a:buChar char="●"/>
            </a:pPr>
            <a:r>
              <a:rPr lang="en-GB" sz="1600" dirty="0" smtClean="0">
                <a:latin typeface="Calibri" pitchFamily="34" charset="0"/>
                <a:ea typeface="Calibri" pitchFamily="34" charset="0"/>
                <a:cs typeface="Calibri" pitchFamily="34" charset="0"/>
              </a:rPr>
              <a:t>The </a:t>
            </a:r>
            <a:r>
              <a:rPr lang="en-GB" sz="1600" dirty="0">
                <a:latin typeface="Calibri" pitchFamily="34" charset="0"/>
                <a:ea typeface="Calibri" pitchFamily="34" charset="0"/>
                <a:cs typeface="Calibri" pitchFamily="34" charset="0"/>
              </a:rPr>
              <a:t>average cost of two is less than 820 rupees.</a:t>
            </a:r>
            <a:endParaRPr sz="1600" dirty="0">
              <a:latin typeface="Calibri" pitchFamily="34" charset="0"/>
              <a:ea typeface="Calibri" pitchFamily="34" charset="0"/>
              <a:cs typeface="Calibri" pitchFamily="34" charset="0"/>
            </a:endParaRPr>
          </a:p>
        </p:txBody>
      </p:sp>
    </p:spTree>
    <p:extLst>
      <p:ext uri="{BB962C8B-B14F-4D97-AF65-F5344CB8AC3E}">
        <p14:creationId xmlns:p14="http://schemas.microsoft.com/office/powerpoint/2010/main" val="761200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6"/>
          <p:cNvSpPr txBox="1">
            <a:spLocks noGrp="1"/>
          </p:cNvSpPr>
          <p:nvPr>
            <p:ph type="title" idx="4294967295"/>
          </p:nvPr>
        </p:nvSpPr>
        <p:spPr>
          <a:xfrm>
            <a:off x="0" y="320675"/>
            <a:ext cx="8521700" cy="736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dirty="0">
                <a:latin typeface="Calibri" pitchFamily="34" charset="0"/>
                <a:ea typeface="Calibri" pitchFamily="34" charset="0"/>
                <a:cs typeface="Calibri" pitchFamily="34" charset="0"/>
              </a:rPr>
              <a:t>States and Cities for opening Restaurants</a:t>
            </a:r>
            <a:endParaRPr dirty="0">
              <a:latin typeface="Calibri" pitchFamily="34" charset="0"/>
              <a:ea typeface="Calibri" pitchFamily="34" charset="0"/>
              <a:cs typeface="Calibri" pitchFamily="34" charset="0"/>
            </a:endParaRPr>
          </a:p>
        </p:txBody>
      </p:sp>
      <p:sp>
        <p:nvSpPr>
          <p:cNvPr id="153" name="Google Shape;153;p26"/>
          <p:cNvSpPr txBox="1"/>
          <p:nvPr/>
        </p:nvSpPr>
        <p:spPr>
          <a:xfrm>
            <a:off x="208386" y="952200"/>
            <a:ext cx="8700087" cy="3600600"/>
          </a:xfrm>
          <a:prstGeom prst="rect">
            <a:avLst/>
          </a:prstGeom>
          <a:noFill/>
          <a:ln>
            <a:noFill/>
          </a:ln>
        </p:spPr>
        <p:txBody>
          <a:bodyPr spcFirstLastPara="1" wrap="square" lIns="91425" tIns="91425" rIns="91425" bIns="91425" anchor="t" anchorCtr="0">
            <a:noAutofit/>
          </a:bodyPr>
          <a:lstStyle/>
          <a:p>
            <a:pPr marL="457200" lvl="0" indent="-285750" algn="l" rtl="0">
              <a:lnSpc>
                <a:spcPct val="115000"/>
              </a:lnSpc>
              <a:spcBef>
                <a:spcPts val="1200"/>
              </a:spcBef>
              <a:spcAft>
                <a:spcPts val="0"/>
              </a:spcAft>
              <a:buSzPts val="900"/>
              <a:buChar char="●"/>
            </a:pPr>
            <a:r>
              <a:rPr lang="en-GB" sz="1600" dirty="0">
                <a:latin typeface="Calibri" pitchFamily="34" charset="0"/>
                <a:ea typeface="Calibri" pitchFamily="34" charset="0"/>
                <a:cs typeface="Calibri" pitchFamily="34" charset="0"/>
              </a:rPr>
              <a:t>High-Rated &amp; Low-Cost Locations: Cities like Ankara (Turkey) and Columbus (USA) have high average ratings (4.4+), while maintaining low average prices (₹220–₹416), making them prime locations for new restaurant openings.</a:t>
            </a:r>
            <a:endParaRPr sz="1600" dirty="0">
              <a:latin typeface="Calibri" pitchFamily="34" charset="0"/>
              <a:ea typeface="Calibri" pitchFamily="34" charset="0"/>
              <a:cs typeface="Calibri" pitchFamily="34" charset="0"/>
            </a:endParaRPr>
          </a:p>
          <a:p>
            <a:pPr marL="457200" lvl="0" indent="-285750" algn="l" rtl="0">
              <a:lnSpc>
                <a:spcPct val="115000"/>
              </a:lnSpc>
              <a:spcBef>
                <a:spcPts val="0"/>
              </a:spcBef>
              <a:spcAft>
                <a:spcPts val="0"/>
              </a:spcAft>
              <a:buSzPts val="900"/>
              <a:buChar char="●"/>
            </a:pPr>
            <a:r>
              <a:rPr lang="en-GB" sz="1600" dirty="0">
                <a:latin typeface="Calibri" pitchFamily="34" charset="0"/>
                <a:ea typeface="Calibri" pitchFamily="34" charset="0"/>
                <a:cs typeface="Calibri" pitchFamily="34" charset="0"/>
              </a:rPr>
              <a:t>Emerging Markets with Less Competition: Cities such as Rio de Janeiro (Brazil), Bandung (Indonesia), and Cape Town (South Africa) have very few restaurants but strong average ratings (above 4.2), indicating a gap in supply and an opportunity for market entry.</a:t>
            </a:r>
            <a:endParaRPr sz="1600" dirty="0">
              <a:latin typeface="Calibri" pitchFamily="34" charset="0"/>
              <a:ea typeface="Calibri" pitchFamily="34" charset="0"/>
              <a:cs typeface="Calibri" pitchFamily="34" charset="0"/>
            </a:endParaRPr>
          </a:p>
          <a:p>
            <a:pPr marL="457200" lvl="0" indent="-285750" algn="l" rtl="0">
              <a:lnSpc>
                <a:spcPct val="115000"/>
              </a:lnSpc>
              <a:spcBef>
                <a:spcPts val="0"/>
              </a:spcBef>
              <a:spcAft>
                <a:spcPts val="0"/>
              </a:spcAft>
              <a:buSzPts val="900"/>
              <a:buChar char="●"/>
            </a:pPr>
            <a:r>
              <a:rPr lang="en-GB" sz="1600" dirty="0">
                <a:latin typeface="Calibri" pitchFamily="34" charset="0"/>
                <a:ea typeface="Calibri" pitchFamily="34" charset="0"/>
                <a:cs typeface="Calibri" pitchFamily="34" charset="0"/>
              </a:rPr>
              <a:t>Affordable &amp; Growing Demand Locations: Colombo (Sri Lanka) and Istanbul (Turkey) have relatively low dining costs (₹228–₹508) and decent average ratings, making them suitable for cost-efficient expansion.</a:t>
            </a:r>
            <a:endParaRPr sz="1600" dirty="0">
              <a:latin typeface="Calibri" pitchFamily="34" charset="0"/>
              <a:ea typeface="Calibri" pitchFamily="34" charset="0"/>
              <a:cs typeface="Calibri" pitchFamily="34" charset="0"/>
            </a:endParaRPr>
          </a:p>
          <a:p>
            <a:pPr marL="457200" lvl="0" indent="-285750" algn="l" rtl="0">
              <a:lnSpc>
                <a:spcPct val="115000"/>
              </a:lnSpc>
              <a:spcBef>
                <a:spcPts val="0"/>
              </a:spcBef>
              <a:spcAft>
                <a:spcPts val="0"/>
              </a:spcAft>
              <a:buSzPts val="900"/>
              <a:buChar char="●"/>
            </a:pPr>
            <a:r>
              <a:rPr lang="en-GB" sz="1600" dirty="0">
                <a:latin typeface="Calibri" pitchFamily="34" charset="0"/>
                <a:ea typeface="Calibri" pitchFamily="34" charset="0"/>
                <a:cs typeface="Calibri" pitchFamily="34" charset="0"/>
              </a:rPr>
              <a:t>Premium Market Opportunities in the USA: Cities like Tampa Bay, Rest of Hawaii, and Pensacola have the highest average ratings (above 4.4), but higher dining costs (₹833), suggesting potential for premium restaurant chains.</a:t>
            </a:r>
            <a:endParaRPr sz="1600" dirty="0">
              <a:latin typeface="Calibri" pitchFamily="34" charset="0"/>
              <a:ea typeface="Calibri" pitchFamily="34" charset="0"/>
              <a:cs typeface="Calibri" pitchFamily="34" charset="0"/>
            </a:endParaRPr>
          </a:p>
          <a:p>
            <a:pPr marL="171450" lvl="0" algn="l" rtl="0">
              <a:lnSpc>
                <a:spcPct val="115000"/>
              </a:lnSpc>
              <a:spcBef>
                <a:spcPts val="0"/>
              </a:spcBef>
              <a:spcAft>
                <a:spcPts val="0"/>
              </a:spcAft>
              <a:buSzPts val="900"/>
            </a:pPr>
            <a:endParaRPr sz="1600" dirty="0">
              <a:latin typeface="Calibri" pitchFamily="34" charset="0"/>
              <a:ea typeface="Calibri" pitchFamily="34" charset="0"/>
              <a:cs typeface="Calibri" pitchFamily="34" charset="0"/>
            </a:endParaRPr>
          </a:p>
          <a:p>
            <a:pPr marL="0" lvl="0" indent="0" algn="l" rtl="0">
              <a:spcBef>
                <a:spcPts val="1200"/>
              </a:spcBef>
              <a:spcAft>
                <a:spcPts val="0"/>
              </a:spcAft>
              <a:buNone/>
            </a:pPr>
            <a:endParaRPr sz="1600" dirty="0">
              <a:solidFill>
                <a:schemeClr val="dk2"/>
              </a:solidFill>
              <a:latin typeface="Calibri" pitchFamily="34" charset="0"/>
              <a:ea typeface="Calibri" pitchFamily="34" charset="0"/>
              <a:cs typeface="Calibri" pitchFamily="34" charset="0"/>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7"/>
          <p:cNvSpPr txBox="1">
            <a:spLocks noGrp="1"/>
          </p:cNvSpPr>
          <p:nvPr>
            <p:ph type="title" idx="4294967295"/>
          </p:nvPr>
        </p:nvSpPr>
        <p:spPr>
          <a:xfrm>
            <a:off x="0" y="501650"/>
            <a:ext cx="8521700" cy="622300"/>
          </a:xfrm>
          <a:prstGeom prst="rect">
            <a:avLst/>
          </a:prstGeom>
        </p:spPr>
        <p:txBody>
          <a:bodyPr spcFirstLastPara="1" wrap="square" lIns="91425" tIns="91425" rIns="91425" bIns="91425" anchor="t" anchorCtr="0">
            <a:noAutofit/>
          </a:bodyPr>
          <a:lstStyle/>
          <a:p>
            <a:pPr marL="457200" lvl="0" indent="0" algn="l" rtl="0">
              <a:lnSpc>
                <a:spcPct val="115000"/>
              </a:lnSpc>
              <a:spcBef>
                <a:spcPts val="0"/>
              </a:spcBef>
              <a:spcAft>
                <a:spcPts val="0"/>
              </a:spcAft>
              <a:buNone/>
            </a:pPr>
            <a:r>
              <a:rPr lang="en-GB" dirty="0">
                <a:latin typeface="Calibri" pitchFamily="34" charset="0"/>
                <a:ea typeface="Calibri" pitchFamily="34" charset="0"/>
                <a:cs typeface="Calibri" pitchFamily="34" charset="0"/>
                <a:sym typeface="Arial"/>
              </a:rPr>
              <a:t>Current Quality regarding ratings for Restaurants</a:t>
            </a:r>
            <a:endParaRPr dirty="0">
              <a:latin typeface="Calibri" pitchFamily="34" charset="0"/>
              <a:ea typeface="Calibri" pitchFamily="34" charset="0"/>
              <a:cs typeface="Calibri" pitchFamily="34" charset="0"/>
            </a:endParaRPr>
          </a:p>
        </p:txBody>
      </p:sp>
      <p:pic>
        <p:nvPicPr>
          <p:cNvPr id="160" name="Google Shape;160;p27"/>
          <p:cNvPicPr preferRelativeResize="0"/>
          <p:nvPr/>
        </p:nvPicPr>
        <p:blipFill>
          <a:blip r:embed="rId3">
            <a:alphaModFix/>
          </a:blip>
          <a:stretch>
            <a:fillRect/>
          </a:stretch>
        </p:blipFill>
        <p:spPr>
          <a:xfrm>
            <a:off x="6321218" y="1411838"/>
            <a:ext cx="2524910" cy="3315241"/>
          </a:xfrm>
          <a:prstGeom prst="rect">
            <a:avLst/>
          </a:prstGeom>
          <a:noFill/>
          <a:ln>
            <a:noFill/>
          </a:ln>
        </p:spPr>
      </p:pic>
      <p:sp>
        <p:nvSpPr>
          <p:cNvPr id="161" name="Google Shape;161;p27"/>
          <p:cNvSpPr txBox="1"/>
          <p:nvPr/>
        </p:nvSpPr>
        <p:spPr>
          <a:xfrm>
            <a:off x="274900" y="1411838"/>
            <a:ext cx="5569200" cy="2217000"/>
          </a:xfrm>
          <a:prstGeom prst="rect">
            <a:avLst/>
          </a:prstGeom>
          <a:noFill/>
          <a:ln>
            <a:noFill/>
          </a:ln>
        </p:spPr>
        <p:txBody>
          <a:bodyPr spcFirstLastPara="1" wrap="square" lIns="91425" tIns="91425" rIns="91425" bIns="91425" anchor="t" anchorCtr="0">
            <a:noAutofit/>
          </a:bodyPr>
          <a:lstStyle/>
          <a:p>
            <a:pPr marL="457200" lvl="0" indent="-292100" algn="l" rtl="0">
              <a:lnSpc>
                <a:spcPct val="115000"/>
              </a:lnSpc>
              <a:spcBef>
                <a:spcPts val="1200"/>
              </a:spcBef>
              <a:spcAft>
                <a:spcPts val="0"/>
              </a:spcAft>
              <a:buSzPts val="1000"/>
              <a:buChar char="●"/>
            </a:pPr>
            <a:r>
              <a:rPr lang="en-GB" sz="1200" dirty="0">
                <a:latin typeface="Calibri" pitchFamily="34" charset="0"/>
                <a:ea typeface="Calibri" pitchFamily="34" charset="0"/>
                <a:cs typeface="Calibri" pitchFamily="34" charset="0"/>
              </a:rPr>
              <a:t>High-Quality Dining in Turkey &amp; South Africa: Turkey (4.40) and South Africa (4.38) have the highest average ratings, indicating strong customer satisfaction and potential for high-end or mid-range restaurant expansion.</a:t>
            </a:r>
            <a:endParaRPr sz="1200" dirty="0">
              <a:latin typeface="Calibri" pitchFamily="34" charset="0"/>
              <a:ea typeface="Calibri" pitchFamily="34" charset="0"/>
              <a:cs typeface="Calibri" pitchFamily="34" charset="0"/>
            </a:endParaRPr>
          </a:p>
          <a:p>
            <a:pPr marL="457200" lvl="0" indent="-292100" algn="l" rtl="0">
              <a:lnSpc>
                <a:spcPct val="115000"/>
              </a:lnSpc>
              <a:spcBef>
                <a:spcPts val="0"/>
              </a:spcBef>
              <a:spcAft>
                <a:spcPts val="0"/>
              </a:spcAft>
              <a:buSzPts val="1000"/>
              <a:buChar char="●"/>
            </a:pPr>
            <a:r>
              <a:rPr lang="en-GB" sz="1200" dirty="0">
                <a:latin typeface="Calibri" pitchFamily="34" charset="0"/>
                <a:ea typeface="Calibri" pitchFamily="34" charset="0"/>
                <a:cs typeface="Calibri" pitchFamily="34" charset="0"/>
              </a:rPr>
              <a:t>Strong Customer Engagement in Turkey &amp; USA: Turkey and the USA have the highest average votes (~450), suggesting an active dining culture and reliable customer feedback, which helps in assessing market demand.</a:t>
            </a:r>
            <a:endParaRPr sz="1200" dirty="0">
              <a:latin typeface="Calibri" pitchFamily="34" charset="0"/>
              <a:ea typeface="Calibri" pitchFamily="34" charset="0"/>
              <a:cs typeface="Calibri" pitchFamily="34" charset="0"/>
            </a:endParaRPr>
          </a:p>
          <a:p>
            <a:pPr marL="457200" lvl="0" indent="-292100" algn="l" rtl="0">
              <a:lnSpc>
                <a:spcPct val="115000"/>
              </a:lnSpc>
              <a:spcBef>
                <a:spcPts val="0"/>
              </a:spcBef>
              <a:spcAft>
                <a:spcPts val="0"/>
              </a:spcAft>
              <a:buSzPts val="1000"/>
              <a:buChar char="●"/>
            </a:pPr>
            <a:r>
              <a:rPr lang="en-GB" sz="1200" dirty="0">
                <a:latin typeface="Calibri" pitchFamily="34" charset="0"/>
                <a:ea typeface="Calibri" pitchFamily="34" charset="0"/>
                <a:cs typeface="Calibri" pitchFamily="34" charset="0"/>
              </a:rPr>
              <a:t>Affordable Dining in Turkey &amp; Sri Lanka: Turkey (₹223) and Sri Lanka (₹508) have the lowest average dining costs, making them attractive for budget-conscious consumers and potential fast-casual restaurant chains.</a:t>
            </a:r>
            <a:endParaRPr sz="1200" dirty="0">
              <a:latin typeface="Calibri" pitchFamily="34" charset="0"/>
              <a:ea typeface="Calibri" pitchFamily="34" charset="0"/>
              <a:cs typeface="Calibri" pitchFamily="34" charset="0"/>
            </a:endParaRPr>
          </a:p>
          <a:p>
            <a:pPr marL="457200" lvl="0" indent="-292100" algn="l" rtl="0">
              <a:lnSpc>
                <a:spcPct val="115000"/>
              </a:lnSpc>
              <a:spcBef>
                <a:spcPts val="0"/>
              </a:spcBef>
              <a:spcAft>
                <a:spcPts val="0"/>
              </a:spcAft>
              <a:buSzPts val="1000"/>
              <a:buChar char="●"/>
            </a:pPr>
            <a:r>
              <a:rPr lang="en-GB" sz="1200" dirty="0">
                <a:latin typeface="Calibri" pitchFamily="34" charset="0"/>
                <a:ea typeface="Calibri" pitchFamily="34" charset="0"/>
                <a:cs typeface="Calibri" pitchFamily="34" charset="0"/>
              </a:rPr>
              <a:t>Lower Competition in Brazil: Brazil has a lower average vote count (7), indicating either limited customer engagement or fewer established restaurants, making it a potential untapped market for new entrants.</a:t>
            </a:r>
            <a:endParaRPr sz="1200" dirty="0">
              <a:solidFill>
                <a:schemeClr val="dk2"/>
              </a:solidFill>
              <a:latin typeface="Calibri" pitchFamily="34" charset="0"/>
              <a:ea typeface="Calibri" pitchFamily="34" charset="0"/>
              <a:cs typeface="Calibri" pitchFamily="34" charset="0"/>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8"/>
          <p:cNvSpPr txBox="1">
            <a:spLocks noGrp="1"/>
          </p:cNvSpPr>
          <p:nvPr>
            <p:ph type="title" idx="4294967295"/>
          </p:nvPr>
        </p:nvSpPr>
        <p:spPr>
          <a:xfrm>
            <a:off x="138545" y="231486"/>
            <a:ext cx="8521700" cy="6223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dirty="0">
                <a:latin typeface="Calibri" pitchFamily="34" charset="0"/>
                <a:ea typeface="Calibri" pitchFamily="34" charset="0"/>
                <a:cs typeface="Calibri" pitchFamily="34" charset="0"/>
                <a:sym typeface="Arial"/>
              </a:rPr>
              <a:t>Current expenditure on food and measures to control</a:t>
            </a:r>
            <a:endParaRPr dirty="0">
              <a:latin typeface="Calibri" pitchFamily="34" charset="0"/>
              <a:ea typeface="Calibri" pitchFamily="34" charset="0"/>
              <a:cs typeface="Calibri" pitchFamily="34" charset="0"/>
            </a:endParaRPr>
          </a:p>
        </p:txBody>
      </p:sp>
      <p:sp>
        <p:nvSpPr>
          <p:cNvPr id="167" name="Google Shape;167;p28"/>
          <p:cNvSpPr txBox="1"/>
          <p:nvPr/>
        </p:nvSpPr>
        <p:spPr>
          <a:xfrm>
            <a:off x="342550" y="3224452"/>
            <a:ext cx="8388300" cy="1195500"/>
          </a:xfrm>
          <a:prstGeom prst="rect">
            <a:avLst/>
          </a:prstGeom>
          <a:noFill/>
          <a:ln>
            <a:noFill/>
          </a:ln>
        </p:spPr>
        <p:txBody>
          <a:bodyPr spcFirstLastPara="1" wrap="square" lIns="91425" tIns="91425" rIns="91425" bIns="91425" anchor="t" anchorCtr="0">
            <a:noAutofit/>
          </a:bodyPr>
          <a:lstStyle/>
          <a:p>
            <a:pPr marL="914400" lvl="0" indent="-304800" algn="l" rtl="0">
              <a:lnSpc>
                <a:spcPct val="115000"/>
              </a:lnSpc>
              <a:spcBef>
                <a:spcPts val="1200"/>
              </a:spcBef>
              <a:spcAft>
                <a:spcPts val="0"/>
              </a:spcAft>
              <a:buSzPts val="1200"/>
              <a:buChar char="●"/>
            </a:pPr>
            <a:r>
              <a:rPr lang="en-GB" sz="1200" dirty="0">
                <a:latin typeface="Calibri" pitchFamily="34" charset="0"/>
                <a:ea typeface="Calibri" pitchFamily="34" charset="0"/>
                <a:cs typeface="Calibri" pitchFamily="34" charset="0"/>
              </a:rPr>
              <a:t>Highest Food Expenditure in the USA: The United States has the highest average dining cost (₹810.81), indicating a market suitable for premium restaurants and fine dining experiences.</a:t>
            </a:r>
            <a:endParaRPr sz="1200" dirty="0">
              <a:latin typeface="Calibri" pitchFamily="34" charset="0"/>
              <a:ea typeface="Calibri" pitchFamily="34" charset="0"/>
              <a:cs typeface="Calibri" pitchFamily="34" charset="0"/>
            </a:endParaRPr>
          </a:p>
          <a:p>
            <a:pPr marL="914400" lvl="0" indent="-304800" algn="l" rtl="0">
              <a:lnSpc>
                <a:spcPct val="115000"/>
              </a:lnSpc>
              <a:spcBef>
                <a:spcPts val="0"/>
              </a:spcBef>
              <a:spcAft>
                <a:spcPts val="0"/>
              </a:spcAft>
              <a:buSzPts val="1200"/>
              <a:buChar char="●"/>
            </a:pPr>
            <a:r>
              <a:rPr lang="en-GB" sz="1200" dirty="0">
                <a:latin typeface="Calibri" pitchFamily="34" charset="0"/>
                <a:ea typeface="Calibri" pitchFamily="34" charset="0"/>
                <a:cs typeface="Calibri" pitchFamily="34" charset="0"/>
              </a:rPr>
              <a:t>Most Affordable Market in Turkey: Turkey has the lowest food expenditure (₹223.81), making it a prime location for budget-friendly or fast-casual dining options.</a:t>
            </a:r>
            <a:endParaRPr sz="1200" dirty="0">
              <a:latin typeface="Calibri" pitchFamily="34" charset="0"/>
              <a:ea typeface="Calibri" pitchFamily="34" charset="0"/>
              <a:cs typeface="Calibri" pitchFamily="34" charset="0"/>
            </a:endParaRPr>
          </a:p>
          <a:p>
            <a:pPr marL="914400" lvl="0" indent="-304800" algn="l" rtl="0">
              <a:lnSpc>
                <a:spcPct val="115000"/>
              </a:lnSpc>
              <a:spcBef>
                <a:spcPts val="0"/>
              </a:spcBef>
              <a:spcAft>
                <a:spcPts val="0"/>
              </a:spcAft>
              <a:buSzPts val="1200"/>
              <a:buChar char="●"/>
            </a:pPr>
            <a:r>
              <a:rPr lang="en-GB" sz="1200" dirty="0">
                <a:latin typeface="Calibri" pitchFamily="34" charset="0"/>
                <a:ea typeface="Calibri" pitchFamily="34" charset="0"/>
                <a:cs typeface="Calibri" pitchFamily="34" charset="0"/>
              </a:rPr>
              <a:t>Moderate Costs in Other Countries: South Africa (₹623.86), Indonesia (₹666), Brazil (₹700), and Sri Lanka (₹508.85) fall within a moderate price range, providing flexibility for mid-range restaurant models.</a:t>
            </a:r>
            <a:endParaRPr sz="1200" dirty="0">
              <a:latin typeface="Calibri" pitchFamily="34" charset="0"/>
              <a:ea typeface="Calibri" pitchFamily="34" charset="0"/>
              <a:cs typeface="Calibri" pitchFamily="34" charset="0"/>
            </a:endParaRPr>
          </a:p>
        </p:txBody>
      </p:sp>
      <p:pic>
        <p:nvPicPr>
          <p:cNvPr id="169" name="Google Shape;169;p28"/>
          <p:cNvPicPr preferRelativeResize="0"/>
          <p:nvPr/>
        </p:nvPicPr>
        <p:blipFill>
          <a:blip r:embed="rId3">
            <a:alphaModFix/>
          </a:blip>
          <a:stretch>
            <a:fillRect/>
          </a:stretch>
        </p:blipFill>
        <p:spPr>
          <a:xfrm>
            <a:off x="2563359" y="1034246"/>
            <a:ext cx="3455276" cy="18926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9"/>
          <p:cNvSpPr txBox="1"/>
          <p:nvPr/>
        </p:nvSpPr>
        <p:spPr>
          <a:xfrm>
            <a:off x="176400" y="281275"/>
            <a:ext cx="8791200" cy="1175676"/>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GB" sz="2800" dirty="0">
                <a:solidFill>
                  <a:schemeClr val="tx1"/>
                </a:solidFill>
                <a:latin typeface="Calibri" pitchFamily="34" charset="0"/>
                <a:ea typeface="Calibri" pitchFamily="34" charset="0"/>
                <a:cs typeface="Calibri" pitchFamily="34" charset="0"/>
              </a:rPr>
              <a:t>Names of restaurants from the recommended states that are our biggest competitors and also low rated</a:t>
            </a:r>
            <a:endParaRPr sz="2800" dirty="0">
              <a:solidFill>
                <a:schemeClr val="tx1"/>
              </a:solidFill>
              <a:latin typeface="Calibri" pitchFamily="34" charset="0"/>
              <a:ea typeface="Calibri" pitchFamily="34" charset="0"/>
              <a:cs typeface="Calibri" pitchFamily="34" charset="0"/>
            </a:endParaRPr>
          </a:p>
        </p:txBody>
      </p:sp>
      <p:sp>
        <p:nvSpPr>
          <p:cNvPr id="175" name="Google Shape;175;p29"/>
          <p:cNvSpPr txBox="1"/>
          <p:nvPr/>
        </p:nvSpPr>
        <p:spPr>
          <a:xfrm>
            <a:off x="839691" y="1463761"/>
            <a:ext cx="7022100" cy="19890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200"/>
              </a:spcBef>
              <a:spcAft>
                <a:spcPts val="0"/>
              </a:spcAft>
              <a:buSzPts val="1400"/>
              <a:buChar char="●"/>
            </a:pPr>
            <a:r>
              <a:rPr lang="en-GB" sz="1200" dirty="0">
                <a:latin typeface="Calibri" pitchFamily="34" charset="0"/>
                <a:ea typeface="Calibri" pitchFamily="34" charset="0"/>
                <a:cs typeface="Calibri" pitchFamily="34" charset="0"/>
              </a:rPr>
              <a:t>Low-rated competitors exist in key markets: Restaurants like </a:t>
            </a:r>
            <a:r>
              <a:rPr lang="en-GB" sz="1200" i="1" dirty="0">
                <a:latin typeface="Calibri" pitchFamily="34" charset="0"/>
                <a:ea typeface="Calibri" pitchFamily="34" charset="0"/>
                <a:cs typeface="Calibri" pitchFamily="34" charset="0"/>
              </a:rPr>
              <a:t>Triangle Restaurant (USA)</a:t>
            </a:r>
            <a:r>
              <a:rPr lang="en-GB" sz="1200" dirty="0">
                <a:latin typeface="Calibri" pitchFamily="34" charset="0"/>
                <a:ea typeface="Calibri" pitchFamily="34" charset="0"/>
                <a:cs typeface="Calibri" pitchFamily="34" charset="0"/>
              </a:rPr>
              <a:t>, </a:t>
            </a:r>
            <a:r>
              <a:rPr lang="en-GB" sz="1200" i="1" dirty="0">
                <a:latin typeface="Calibri" pitchFamily="34" charset="0"/>
                <a:ea typeface="Calibri" pitchFamily="34" charset="0"/>
                <a:cs typeface="Calibri" pitchFamily="34" charset="0"/>
              </a:rPr>
              <a:t>Elite Indian Restaurant (Sri Lanka)</a:t>
            </a:r>
            <a:r>
              <a:rPr lang="en-GB" sz="1200" dirty="0">
                <a:latin typeface="Calibri" pitchFamily="34" charset="0"/>
                <a:ea typeface="Calibri" pitchFamily="34" charset="0"/>
                <a:cs typeface="Calibri" pitchFamily="34" charset="0"/>
              </a:rPr>
              <a:t>, and </a:t>
            </a:r>
            <a:r>
              <a:rPr lang="en-GB" sz="1200" i="1" dirty="0" err="1">
                <a:latin typeface="Calibri" pitchFamily="34" charset="0"/>
                <a:ea typeface="Calibri" pitchFamily="34" charset="0"/>
                <a:cs typeface="Calibri" pitchFamily="34" charset="0"/>
              </a:rPr>
              <a:t>Sandubas</a:t>
            </a:r>
            <a:r>
              <a:rPr lang="en-GB" sz="1200" i="1" dirty="0">
                <a:latin typeface="Calibri" pitchFamily="34" charset="0"/>
                <a:ea typeface="Calibri" pitchFamily="34" charset="0"/>
                <a:cs typeface="Calibri" pitchFamily="34" charset="0"/>
              </a:rPr>
              <a:t> Café (Brazil)</a:t>
            </a:r>
            <a:r>
              <a:rPr lang="en-GB" sz="1200" dirty="0">
                <a:latin typeface="Calibri" pitchFamily="34" charset="0"/>
                <a:ea typeface="Calibri" pitchFamily="34" charset="0"/>
                <a:cs typeface="Calibri" pitchFamily="34" charset="0"/>
              </a:rPr>
              <a:t> have ratings between 1-2.5, indicating poor customer satisfaction.</a:t>
            </a:r>
            <a:endParaRPr sz="1200" dirty="0">
              <a:latin typeface="Calibri" pitchFamily="34" charset="0"/>
              <a:ea typeface="Calibri" pitchFamily="34" charset="0"/>
              <a:cs typeface="Calibri" pitchFamily="34" charset="0"/>
            </a:endParaRPr>
          </a:p>
          <a:p>
            <a:pPr marL="457200" lvl="0" indent="-317500" algn="l" rtl="0">
              <a:lnSpc>
                <a:spcPct val="115000"/>
              </a:lnSpc>
              <a:spcBef>
                <a:spcPts val="0"/>
              </a:spcBef>
              <a:spcAft>
                <a:spcPts val="0"/>
              </a:spcAft>
              <a:buSzPts val="1400"/>
              <a:buChar char="●"/>
            </a:pPr>
            <a:r>
              <a:rPr lang="en-GB" sz="1200" dirty="0">
                <a:latin typeface="Calibri" pitchFamily="34" charset="0"/>
                <a:ea typeface="Calibri" pitchFamily="34" charset="0"/>
                <a:cs typeface="Calibri" pitchFamily="34" charset="0"/>
              </a:rPr>
              <a:t>Low votes suggest limited customer engagement: With low review counts (e.g., </a:t>
            </a:r>
            <a:r>
              <a:rPr lang="en-GB" sz="1200" i="1" dirty="0" err="1">
                <a:latin typeface="Calibri" pitchFamily="34" charset="0"/>
                <a:ea typeface="Calibri" pitchFamily="34" charset="0"/>
                <a:cs typeface="Calibri" pitchFamily="34" charset="0"/>
              </a:rPr>
              <a:t>Sandubas</a:t>
            </a:r>
            <a:r>
              <a:rPr lang="en-GB" sz="1200" i="1" dirty="0">
                <a:latin typeface="Calibri" pitchFamily="34" charset="0"/>
                <a:ea typeface="Calibri" pitchFamily="34" charset="0"/>
                <a:cs typeface="Calibri" pitchFamily="34" charset="0"/>
              </a:rPr>
              <a:t> Café</a:t>
            </a:r>
            <a:r>
              <a:rPr lang="en-GB" sz="1200" dirty="0">
                <a:latin typeface="Calibri" pitchFamily="34" charset="0"/>
                <a:ea typeface="Calibri" pitchFamily="34" charset="0"/>
                <a:cs typeface="Calibri" pitchFamily="34" charset="0"/>
              </a:rPr>
              <a:t> with just 2 votes), these restaurants may not have strong customer loyalty or visibility.</a:t>
            </a:r>
            <a:endParaRPr sz="1200" dirty="0">
              <a:latin typeface="Calibri" pitchFamily="34" charset="0"/>
              <a:ea typeface="Calibri" pitchFamily="34" charset="0"/>
              <a:cs typeface="Calibri" pitchFamily="34" charset="0"/>
            </a:endParaRPr>
          </a:p>
          <a:p>
            <a:pPr marL="457200" lvl="0" indent="-317500" algn="l" rtl="0">
              <a:lnSpc>
                <a:spcPct val="115000"/>
              </a:lnSpc>
              <a:spcBef>
                <a:spcPts val="0"/>
              </a:spcBef>
              <a:spcAft>
                <a:spcPts val="0"/>
              </a:spcAft>
              <a:buSzPts val="1400"/>
              <a:buChar char="●"/>
            </a:pPr>
            <a:r>
              <a:rPr lang="en-GB" sz="1200" dirty="0">
                <a:latin typeface="Calibri" pitchFamily="34" charset="0"/>
                <a:ea typeface="Calibri" pitchFamily="34" charset="0"/>
                <a:cs typeface="Calibri" pitchFamily="34" charset="0"/>
              </a:rPr>
              <a:t>Pricing does not always justify quality: Despite mid-to-high pricing (₹464.94–₹833.33), these restaurants have poor ratings, suggesting service or quality issues.</a:t>
            </a:r>
            <a:endParaRPr sz="1200" dirty="0">
              <a:latin typeface="Calibri" pitchFamily="34" charset="0"/>
              <a:ea typeface="Calibri" pitchFamily="34" charset="0"/>
              <a:cs typeface="Calibri"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0"/>
          <p:cNvSpPr txBox="1">
            <a:spLocks noGrp="1"/>
          </p:cNvSpPr>
          <p:nvPr>
            <p:ph type="title" idx="4294967295"/>
          </p:nvPr>
        </p:nvSpPr>
        <p:spPr>
          <a:xfrm>
            <a:off x="0" y="514350"/>
            <a:ext cx="8520113" cy="623888"/>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dirty="0">
                <a:latin typeface="Calibri" pitchFamily="34" charset="0"/>
                <a:ea typeface="Calibri" pitchFamily="34" charset="0"/>
                <a:cs typeface="Calibri" pitchFamily="34" charset="0"/>
              </a:rPr>
              <a:t>Cuisines with high rating</a:t>
            </a:r>
            <a:endParaRPr dirty="0">
              <a:latin typeface="Calibri" pitchFamily="34" charset="0"/>
              <a:ea typeface="Calibri" pitchFamily="34" charset="0"/>
              <a:cs typeface="Calibri" pitchFamily="34" charset="0"/>
            </a:endParaRPr>
          </a:p>
        </p:txBody>
      </p:sp>
      <p:sp>
        <p:nvSpPr>
          <p:cNvPr id="182" name="Google Shape;182;p30"/>
          <p:cNvSpPr txBox="1"/>
          <p:nvPr/>
        </p:nvSpPr>
        <p:spPr>
          <a:xfrm>
            <a:off x="836792" y="1385102"/>
            <a:ext cx="7392807" cy="3560400"/>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1200"/>
              </a:spcBef>
              <a:spcAft>
                <a:spcPts val="0"/>
              </a:spcAft>
              <a:buSzPts val="1200"/>
              <a:buChar char="●"/>
            </a:pPr>
            <a:r>
              <a:rPr lang="en-GB" dirty="0">
                <a:latin typeface="Calibri" pitchFamily="34" charset="0"/>
                <a:ea typeface="Calibri" pitchFamily="34" charset="0"/>
                <a:cs typeface="Calibri" pitchFamily="34" charset="0"/>
              </a:rPr>
              <a:t>High-rated cuisines have strong customer appeal: Cuisines like </a:t>
            </a:r>
            <a:r>
              <a:rPr lang="en-GB" i="1" dirty="0">
                <a:latin typeface="Calibri" pitchFamily="34" charset="0"/>
                <a:ea typeface="Calibri" pitchFamily="34" charset="0"/>
                <a:cs typeface="Calibri" pitchFamily="34" charset="0"/>
              </a:rPr>
              <a:t>American, BBQ, Sandwich</a:t>
            </a:r>
            <a:r>
              <a:rPr lang="en-GB" dirty="0">
                <a:latin typeface="Calibri" pitchFamily="34" charset="0"/>
                <a:ea typeface="Calibri" pitchFamily="34" charset="0"/>
                <a:cs typeface="Calibri" pitchFamily="34" charset="0"/>
              </a:rPr>
              <a:t> (USA), </a:t>
            </a:r>
            <a:r>
              <a:rPr lang="en-GB" i="1" dirty="0">
                <a:latin typeface="Calibri" pitchFamily="34" charset="0"/>
                <a:ea typeface="Calibri" pitchFamily="34" charset="0"/>
                <a:cs typeface="Calibri" pitchFamily="34" charset="0"/>
              </a:rPr>
              <a:t>Seafood</a:t>
            </a:r>
            <a:r>
              <a:rPr lang="en-GB" dirty="0">
                <a:latin typeface="Calibri" pitchFamily="34" charset="0"/>
                <a:ea typeface="Calibri" pitchFamily="34" charset="0"/>
                <a:cs typeface="Calibri" pitchFamily="34" charset="0"/>
              </a:rPr>
              <a:t> (Sri Lanka), and </a:t>
            </a:r>
            <a:r>
              <a:rPr lang="en-GB" i="1" dirty="0" err="1">
                <a:latin typeface="Calibri" pitchFamily="34" charset="0"/>
                <a:ea typeface="Calibri" pitchFamily="34" charset="0"/>
                <a:cs typeface="Calibri" pitchFamily="34" charset="0"/>
              </a:rPr>
              <a:t>Sunda</a:t>
            </a:r>
            <a:r>
              <a:rPr lang="en-GB" i="1" dirty="0">
                <a:latin typeface="Calibri" pitchFamily="34" charset="0"/>
                <a:ea typeface="Calibri" pitchFamily="34" charset="0"/>
                <a:cs typeface="Calibri" pitchFamily="34" charset="0"/>
              </a:rPr>
              <a:t>, Indonesian</a:t>
            </a:r>
            <a:r>
              <a:rPr lang="en-GB" dirty="0">
                <a:latin typeface="Calibri" pitchFamily="34" charset="0"/>
                <a:ea typeface="Calibri" pitchFamily="34" charset="0"/>
                <a:cs typeface="Calibri" pitchFamily="34" charset="0"/>
              </a:rPr>
              <a:t> (Indonesia) consistently receive 4.9 ratings, indicating strong customer satisfaction.</a:t>
            </a:r>
            <a:endParaRPr dirty="0">
              <a:latin typeface="Calibri" pitchFamily="34" charset="0"/>
              <a:ea typeface="Calibri" pitchFamily="34" charset="0"/>
              <a:cs typeface="Calibri" pitchFamily="34" charset="0"/>
            </a:endParaRPr>
          </a:p>
          <a:p>
            <a:pPr marL="457200" lvl="0" indent="-304800" algn="l" rtl="0">
              <a:lnSpc>
                <a:spcPct val="115000"/>
              </a:lnSpc>
              <a:spcBef>
                <a:spcPts val="0"/>
              </a:spcBef>
              <a:spcAft>
                <a:spcPts val="0"/>
              </a:spcAft>
              <a:buSzPts val="1200"/>
              <a:buChar char="●"/>
            </a:pPr>
            <a:r>
              <a:rPr lang="en-GB" dirty="0">
                <a:latin typeface="Calibri" pitchFamily="34" charset="0"/>
                <a:ea typeface="Calibri" pitchFamily="34" charset="0"/>
                <a:cs typeface="Calibri" pitchFamily="34" charset="0"/>
              </a:rPr>
              <a:t>Diverse cuisines perform well across regions: A mix of </a:t>
            </a:r>
            <a:r>
              <a:rPr lang="en-GB" i="1" dirty="0">
                <a:latin typeface="Calibri" pitchFamily="34" charset="0"/>
                <a:ea typeface="Calibri" pitchFamily="34" charset="0"/>
                <a:cs typeface="Calibri" pitchFamily="34" charset="0"/>
              </a:rPr>
              <a:t>local (</a:t>
            </a:r>
            <a:r>
              <a:rPr lang="en-GB" i="1" dirty="0" err="1">
                <a:latin typeface="Calibri" pitchFamily="34" charset="0"/>
                <a:ea typeface="Calibri" pitchFamily="34" charset="0"/>
                <a:cs typeface="Calibri" pitchFamily="34" charset="0"/>
              </a:rPr>
              <a:t>Sunda</a:t>
            </a:r>
            <a:r>
              <a:rPr lang="en-GB" i="1" dirty="0">
                <a:latin typeface="Calibri" pitchFamily="34" charset="0"/>
                <a:ea typeface="Calibri" pitchFamily="34" charset="0"/>
                <a:cs typeface="Calibri" pitchFamily="34" charset="0"/>
              </a:rPr>
              <a:t>, Indonesian, Brazilian)</a:t>
            </a:r>
            <a:r>
              <a:rPr lang="en-GB" dirty="0">
                <a:latin typeface="Calibri" pitchFamily="34" charset="0"/>
                <a:ea typeface="Calibri" pitchFamily="34" charset="0"/>
                <a:cs typeface="Calibri" pitchFamily="34" charset="0"/>
              </a:rPr>
              <a:t> and </a:t>
            </a:r>
            <a:r>
              <a:rPr lang="en-GB" i="1" dirty="0">
                <a:latin typeface="Calibri" pitchFamily="34" charset="0"/>
                <a:ea typeface="Calibri" pitchFamily="34" charset="0"/>
                <a:cs typeface="Calibri" pitchFamily="34" charset="0"/>
              </a:rPr>
              <a:t>international (European, Italian, Japanese, BBQ)</a:t>
            </a:r>
            <a:r>
              <a:rPr lang="en-GB" dirty="0">
                <a:latin typeface="Calibri" pitchFamily="34" charset="0"/>
                <a:ea typeface="Calibri" pitchFamily="34" charset="0"/>
                <a:cs typeface="Calibri" pitchFamily="34" charset="0"/>
              </a:rPr>
              <a:t> cuisines receive top ratings, showing broad customer acceptance.</a:t>
            </a:r>
            <a:endParaRPr dirty="0">
              <a:latin typeface="Calibri" pitchFamily="34" charset="0"/>
              <a:ea typeface="Calibri" pitchFamily="34" charset="0"/>
              <a:cs typeface="Calibri" pitchFamily="34" charset="0"/>
            </a:endParaRPr>
          </a:p>
          <a:p>
            <a:pPr marL="914400" lvl="0" indent="0" algn="l" rtl="0">
              <a:lnSpc>
                <a:spcPct val="115000"/>
              </a:lnSpc>
              <a:spcBef>
                <a:spcPts val="1200"/>
              </a:spcBef>
              <a:spcAft>
                <a:spcPts val="0"/>
              </a:spcAft>
              <a:buNone/>
            </a:pPr>
            <a:endParaRPr dirty="0">
              <a:solidFill>
                <a:schemeClr val="dk2"/>
              </a:solidFill>
              <a:latin typeface="Calibri" pitchFamily="34" charset="0"/>
              <a:ea typeface="Calibri" pitchFamily="34" charset="0"/>
              <a:cs typeface="Calibri" pitchFamily="34" charset="0"/>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1"/>
          <p:cNvSpPr txBox="1"/>
          <p:nvPr/>
        </p:nvSpPr>
        <p:spPr>
          <a:xfrm>
            <a:off x="382750" y="2784800"/>
            <a:ext cx="7936200" cy="676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700">
              <a:solidFill>
                <a:schemeClr val="dk2"/>
              </a:solidFill>
              <a:latin typeface="Roboto"/>
              <a:ea typeface="Roboto"/>
              <a:cs typeface="Roboto"/>
              <a:sym typeface="Roboto"/>
            </a:endParaRPr>
          </a:p>
        </p:txBody>
      </p:sp>
      <p:sp>
        <p:nvSpPr>
          <p:cNvPr id="189" name="Google Shape;189;p31"/>
          <p:cNvSpPr txBox="1"/>
          <p:nvPr/>
        </p:nvSpPr>
        <p:spPr>
          <a:xfrm>
            <a:off x="342550" y="263275"/>
            <a:ext cx="8056800" cy="676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2800" dirty="0">
                <a:solidFill>
                  <a:schemeClr val="tx1"/>
                </a:solidFill>
                <a:latin typeface="Calibri" pitchFamily="34" charset="0"/>
                <a:ea typeface="Calibri" pitchFamily="34" charset="0"/>
                <a:cs typeface="Calibri" pitchFamily="34" charset="0"/>
              </a:rPr>
              <a:t>Effect of online delivery and table booking on ratings</a:t>
            </a:r>
            <a:endParaRPr sz="2800" dirty="0">
              <a:solidFill>
                <a:schemeClr val="tx1"/>
              </a:solidFill>
              <a:latin typeface="Calibri" pitchFamily="34" charset="0"/>
              <a:ea typeface="Calibri" pitchFamily="34" charset="0"/>
              <a:cs typeface="Calibri" pitchFamily="34" charset="0"/>
              <a:sym typeface="Roboto"/>
            </a:endParaRPr>
          </a:p>
        </p:txBody>
      </p:sp>
      <p:pic>
        <p:nvPicPr>
          <p:cNvPr id="192" name="Google Shape;192;p31"/>
          <p:cNvPicPr preferRelativeResize="0"/>
          <p:nvPr/>
        </p:nvPicPr>
        <p:blipFill>
          <a:blip r:embed="rId3">
            <a:alphaModFix/>
          </a:blip>
          <a:stretch>
            <a:fillRect/>
          </a:stretch>
        </p:blipFill>
        <p:spPr>
          <a:xfrm>
            <a:off x="5680363" y="1299488"/>
            <a:ext cx="3131048" cy="3460173"/>
          </a:xfrm>
          <a:prstGeom prst="rect">
            <a:avLst/>
          </a:prstGeom>
          <a:noFill/>
          <a:ln>
            <a:noFill/>
          </a:ln>
        </p:spPr>
      </p:pic>
      <p:sp>
        <p:nvSpPr>
          <p:cNvPr id="193" name="Google Shape;193;p31"/>
          <p:cNvSpPr txBox="1"/>
          <p:nvPr/>
        </p:nvSpPr>
        <p:spPr>
          <a:xfrm>
            <a:off x="281582" y="1427900"/>
            <a:ext cx="4957200" cy="13569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0"/>
              </a:spcBef>
              <a:spcAft>
                <a:spcPts val="0"/>
              </a:spcAft>
              <a:buNone/>
            </a:pPr>
            <a:r>
              <a:rPr lang="en-GB" dirty="0" smtClean="0">
                <a:latin typeface="Calibri" pitchFamily="34" charset="0"/>
                <a:ea typeface="Calibri" pitchFamily="34" charset="0"/>
                <a:cs typeface="Calibri" pitchFamily="34" charset="0"/>
              </a:rPr>
              <a:t>Insights </a:t>
            </a:r>
            <a:endParaRPr dirty="0">
              <a:latin typeface="Calibri" pitchFamily="34" charset="0"/>
              <a:ea typeface="Calibri" pitchFamily="34" charset="0"/>
              <a:cs typeface="Calibri" pitchFamily="34" charset="0"/>
            </a:endParaRPr>
          </a:p>
          <a:p>
            <a:pPr marL="914400" lvl="0" indent="-304800" algn="l" rtl="0">
              <a:lnSpc>
                <a:spcPct val="115000"/>
              </a:lnSpc>
              <a:spcBef>
                <a:spcPts val="0"/>
              </a:spcBef>
              <a:spcAft>
                <a:spcPts val="0"/>
              </a:spcAft>
              <a:buSzPts val="1200"/>
              <a:buChar char="●"/>
            </a:pPr>
            <a:r>
              <a:rPr lang="en-GB" dirty="0">
                <a:latin typeface="Calibri" pitchFamily="34" charset="0"/>
                <a:ea typeface="Calibri" pitchFamily="34" charset="0"/>
                <a:cs typeface="Calibri" pitchFamily="34" charset="0"/>
              </a:rPr>
              <a:t>Online Delivery &amp; Table Booking Can Impact Ratings</a:t>
            </a:r>
            <a:endParaRPr dirty="0">
              <a:latin typeface="Calibri" pitchFamily="34" charset="0"/>
              <a:ea typeface="Calibri" pitchFamily="34" charset="0"/>
              <a:cs typeface="Calibri" pitchFamily="34" charset="0"/>
            </a:endParaRPr>
          </a:p>
          <a:p>
            <a:pPr marL="914400" lvl="0" indent="-304800" algn="l" rtl="0">
              <a:lnSpc>
                <a:spcPct val="115000"/>
              </a:lnSpc>
              <a:spcBef>
                <a:spcPts val="0"/>
              </a:spcBef>
              <a:spcAft>
                <a:spcPts val="0"/>
              </a:spcAft>
              <a:buSzPts val="1200"/>
              <a:buChar char="●"/>
            </a:pPr>
            <a:r>
              <a:rPr lang="en-GB" dirty="0">
                <a:latin typeface="Calibri" pitchFamily="34" charset="0"/>
                <a:ea typeface="Calibri" pitchFamily="34" charset="0"/>
                <a:cs typeface="Calibri" pitchFamily="34" charset="0"/>
              </a:rPr>
              <a:t>Higher Ratings for Restaurants with Online Services</a:t>
            </a:r>
            <a:endParaRPr dirty="0">
              <a:latin typeface="Calibri" pitchFamily="34" charset="0"/>
              <a:ea typeface="Calibri" pitchFamily="34" charset="0"/>
              <a:cs typeface="Calibri" pitchFamily="34" charset="0"/>
            </a:endParaRPr>
          </a:p>
          <a:p>
            <a:pPr marL="914400" lvl="0" indent="-304800" algn="l" rtl="0">
              <a:lnSpc>
                <a:spcPct val="115000"/>
              </a:lnSpc>
              <a:spcBef>
                <a:spcPts val="0"/>
              </a:spcBef>
              <a:spcAft>
                <a:spcPts val="0"/>
              </a:spcAft>
              <a:buSzPts val="1200"/>
              <a:buChar char="●"/>
            </a:pPr>
            <a:r>
              <a:rPr lang="en-GB" dirty="0">
                <a:latin typeface="Calibri" pitchFamily="34" charset="0"/>
                <a:ea typeface="Calibri" pitchFamily="34" charset="0"/>
                <a:cs typeface="Calibri" pitchFamily="34" charset="0"/>
              </a:rPr>
              <a:t>Offering both delivery &amp; table booking can increase customer engagement</a:t>
            </a:r>
            <a:endParaRPr dirty="0">
              <a:solidFill>
                <a:schemeClr val="dk2"/>
              </a:solidFill>
              <a:latin typeface="Calibri" pitchFamily="34" charset="0"/>
              <a:ea typeface="Calibri" pitchFamily="34" charset="0"/>
              <a:cs typeface="Calibri" pitchFamily="34" charset="0"/>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2"/>
          <p:cNvSpPr txBox="1">
            <a:spLocks noGrp="1"/>
          </p:cNvSpPr>
          <p:nvPr>
            <p:ph type="title" idx="4294967295"/>
          </p:nvPr>
        </p:nvSpPr>
        <p:spPr>
          <a:xfrm>
            <a:off x="0" y="501650"/>
            <a:ext cx="8521700" cy="6223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dirty="0">
                <a:latin typeface="Calibri" pitchFamily="34" charset="0"/>
                <a:ea typeface="Calibri" pitchFamily="34" charset="0"/>
                <a:cs typeface="Calibri" pitchFamily="34" charset="0"/>
              </a:rPr>
              <a:t>Effect of higher price on ratings</a:t>
            </a:r>
            <a:endParaRPr dirty="0">
              <a:latin typeface="Calibri" pitchFamily="34" charset="0"/>
              <a:ea typeface="Calibri" pitchFamily="34" charset="0"/>
              <a:cs typeface="Calibri" pitchFamily="34" charset="0"/>
            </a:endParaRPr>
          </a:p>
        </p:txBody>
      </p:sp>
      <p:sp>
        <p:nvSpPr>
          <p:cNvPr id="199" name="Google Shape;199;p32"/>
          <p:cNvSpPr txBox="1"/>
          <p:nvPr/>
        </p:nvSpPr>
        <p:spPr>
          <a:xfrm>
            <a:off x="1040227" y="1342186"/>
            <a:ext cx="5799600" cy="31128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0"/>
              </a:spcBef>
              <a:spcAft>
                <a:spcPts val="0"/>
              </a:spcAft>
              <a:buNone/>
            </a:pPr>
            <a:r>
              <a:rPr lang="en-GB" sz="1200" dirty="0">
                <a:latin typeface="Calibri" pitchFamily="34" charset="0"/>
                <a:ea typeface="Calibri" pitchFamily="34" charset="0"/>
                <a:cs typeface="Calibri" pitchFamily="34" charset="0"/>
              </a:rPr>
              <a:t>Insights</a:t>
            </a:r>
            <a:endParaRPr sz="1200" dirty="0">
              <a:latin typeface="Calibri" pitchFamily="34" charset="0"/>
              <a:ea typeface="Calibri" pitchFamily="34" charset="0"/>
              <a:cs typeface="Calibri" pitchFamily="34" charset="0"/>
            </a:endParaRPr>
          </a:p>
          <a:p>
            <a:pPr marL="914400" lvl="0" indent="-298450" algn="l" rtl="0">
              <a:lnSpc>
                <a:spcPct val="115000"/>
              </a:lnSpc>
              <a:spcBef>
                <a:spcPts val="0"/>
              </a:spcBef>
              <a:spcAft>
                <a:spcPts val="0"/>
              </a:spcAft>
              <a:buSzPts val="1100"/>
              <a:buFont typeface="Noto Sans Symbols"/>
              <a:buChar char="●"/>
            </a:pPr>
            <a:r>
              <a:rPr lang="en-GB" sz="1200" dirty="0">
                <a:latin typeface="Calibri" pitchFamily="34" charset="0"/>
                <a:ea typeface="Calibri" pitchFamily="34" charset="0"/>
                <a:cs typeface="Calibri" pitchFamily="34" charset="0"/>
              </a:rPr>
              <a:t>The correlation coefficient between cuisine rates and ratings is approximately 0.31, indicating a weak to moderate positive correlation. This suggests that while there is a slight relationship between higher cuisine rates and improved ratings, the impact is minimal.</a:t>
            </a:r>
            <a:endParaRPr sz="1200" dirty="0">
              <a:latin typeface="Calibri" pitchFamily="34" charset="0"/>
              <a:ea typeface="Calibri" pitchFamily="34" charset="0"/>
              <a:cs typeface="Calibri" pitchFamily="34" charset="0"/>
            </a:endParaRPr>
          </a:p>
          <a:p>
            <a:pPr marL="914400" lvl="0" indent="-298450" algn="l" rtl="0">
              <a:lnSpc>
                <a:spcPct val="115000"/>
              </a:lnSpc>
              <a:spcBef>
                <a:spcPts val="0"/>
              </a:spcBef>
              <a:spcAft>
                <a:spcPts val="0"/>
              </a:spcAft>
              <a:buSzPts val="1100"/>
              <a:buFont typeface="Noto Sans Symbols"/>
              <a:buChar char="●"/>
            </a:pPr>
            <a:r>
              <a:rPr lang="en-GB" sz="1200" dirty="0">
                <a:latin typeface="Calibri" pitchFamily="34" charset="0"/>
                <a:ea typeface="Calibri" pitchFamily="34" charset="0"/>
                <a:cs typeface="Calibri" pitchFamily="34" charset="0"/>
              </a:rPr>
              <a:t>A higher rate for cuisines may lead to a slight increase in ratings, but the effect is not significant enough to rely on pricing adjustments alone for improving customer feedback.</a:t>
            </a:r>
            <a:endParaRPr sz="1200" dirty="0">
              <a:latin typeface="Calibri" pitchFamily="34" charset="0"/>
              <a:ea typeface="Calibri" pitchFamily="34" charset="0"/>
              <a:cs typeface="Calibri" pitchFamily="34" charset="0"/>
            </a:endParaRPr>
          </a:p>
          <a:p>
            <a:pPr marL="914400" lvl="0" indent="0" algn="l" rtl="0">
              <a:lnSpc>
                <a:spcPct val="115000"/>
              </a:lnSpc>
              <a:spcBef>
                <a:spcPts val="0"/>
              </a:spcBef>
              <a:spcAft>
                <a:spcPts val="0"/>
              </a:spcAft>
              <a:buNone/>
            </a:pPr>
            <a:endParaRPr sz="1200" dirty="0">
              <a:latin typeface="Calibri" pitchFamily="34" charset="0"/>
              <a:ea typeface="Calibri" pitchFamily="34" charset="0"/>
              <a:cs typeface="Calibri" pitchFamily="34" charset="0"/>
            </a:endParaRPr>
          </a:p>
          <a:p>
            <a:pPr marL="457200" lvl="0" indent="0" algn="l" rtl="0">
              <a:lnSpc>
                <a:spcPct val="115000"/>
              </a:lnSpc>
              <a:spcBef>
                <a:spcPts val="0"/>
              </a:spcBef>
              <a:spcAft>
                <a:spcPts val="0"/>
              </a:spcAft>
              <a:buNone/>
            </a:pPr>
            <a:r>
              <a:rPr lang="en-GB" sz="1200" dirty="0">
                <a:latin typeface="Calibri" pitchFamily="34" charset="0"/>
                <a:ea typeface="Calibri" pitchFamily="34" charset="0"/>
                <a:cs typeface="Calibri" pitchFamily="34" charset="0"/>
              </a:rPr>
              <a:t>Recommendations</a:t>
            </a:r>
            <a:endParaRPr sz="1200" dirty="0">
              <a:latin typeface="Calibri" pitchFamily="34" charset="0"/>
              <a:ea typeface="Calibri" pitchFamily="34" charset="0"/>
              <a:cs typeface="Calibri" pitchFamily="34" charset="0"/>
            </a:endParaRPr>
          </a:p>
          <a:p>
            <a:pPr marL="914400" lvl="0" indent="-298450" algn="l" rtl="0">
              <a:lnSpc>
                <a:spcPct val="115000"/>
              </a:lnSpc>
              <a:spcBef>
                <a:spcPts val="0"/>
              </a:spcBef>
              <a:spcAft>
                <a:spcPts val="0"/>
              </a:spcAft>
              <a:buSzPts val="1100"/>
              <a:buFont typeface="Noto Sans Symbols"/>
              <a:buChar char="●"/>
            </a:pPr>
            <a:r>
              <a:rPr lang="en-GB" sz="1200" dirty="0">
                <a:latin typeface="Calibri" pitchFamily="34" charset="0"/>
                <a:ea typeface="Calibri" pitchFamily="34" charset="0"/>
                <a:cs typeface="Calibri" pitchFamily="34" charset="0"/>
              </a:rPr>
              <a:t>Given the weak correlation between cuisine rates and ratings, adjusting rates alone is unlikely to significantly impact customer feedback. Focus on improving quality and service to enhance overall customer satisfaction</a:t>
            </a:r>
            <a:r>
              <a:rPr lang="en-GB" sz="1100" dirty="0"/>
              <a:t>.</a:t>
            </a:r>
            <a:endParaRPr sz="1200" dirty="0">
              <a:solidFill>
                <a:schemeClr val="dk2"/>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3"/>
          <p:cNvSpPr txBox="1">
            <a:spLocks noGrp="1"/>
          </p:cNvSpPr>
          <p:nvPr>
            <p:ph type="title" idx="4294967295"/>
          </p:nvPr>
        </p:nvSpPr>
        <p:spPr>
          <a:xfrm>
            <a:off x="0" y="501650"/>
            <a:ext cx="8521700" cy="6223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dirty="0">
                <a:latin typeface="Calibri" pitchFamily="34" charset="0"/>
                <a:ea typeface="Calibri" pitchFamily="34" charset="0"/>
                <a:cs typeface="Calibri" pitchFamily="34" charset="0"/>
              </a:rPr>
              <a:t>Restaurant Distribution according to price range</a:t>
            </a:r>
            <a:endParaRPr dirty="0">
              <a:latin typeface="Calibri" pitchFamily="34" charset="0"/>
              <a:ea typeface="Calibri" pitchFamily="34" charset="0"/>
              <a:cs typeface="Calibri" pitchFamily="34" charset="0"/>
            </a:endParaRPr>
          </a:p>
        </p:txBody>
      </p:sp>
      <p:pic>
        <p:nvPicPr>
          <p:cNvPr id="209" name="Google Shape;209;p33"/>
          <p:cNvPicPr preferRelativeResize="0"/>
          <p:nvPr/>
        </p:nvPicPr>
        <p:blipFill>
          <a:blip r:embed="rId3">
            <a:alphaModFix/>
          </a:blip>
          <a:stretch>
            <a:fillRect/>
          </a:stretch>
        </p:blipFill>
        <p:spPr>
          <a:xfrm>
            <a:off x="2405822" y="1302491"/>
            <a:ext cx="3507875" cy="1789725"/>
          </a:xfrm>
          <a:prstGeom prst="rect">
            <a:avLst/>
          </a:prstGeom>
          <a:noFill/>
          <a:ln>
            <a:noFill/>
          </a:ln>
        </p:spPr>
      </p:pic>
      <p:sp>
        <p:nvSpPr>
          <p:cNvPr id="210" name="Google Shape;210;p33"/>
          <p:cNvSpPr txBox="1"/>
          <p:nvPr/>
        </p:nvSpPr>
        <p:spPr>
          <a:xfrm>
            <a:off x="248300" y="3272325"/>
            <a:ext cx="8478000" cy="16050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0"/>
              </a:spcBef>
              <a:spcAft>
                <a:spcPts val="0"/>
              </a:spcAft>
              <a:buNone/>
            </a:pPr>
            <a:r>
              <a:rPr lang="en-GB" sz="1200" dirty="0">
                <a:latin typeface="Calibri" pitchFamily="34" charset="0"/>
                <a:ea typeface="Calibri" pitchFamily="34" charset="0"/>
                <a:cs typeface="Calibri" pitchFamily="34" charset="0"/>
              </a:rPr>
              <a:t>Insights-</a:t>
            </a:r>
            <a:endParaRPr sz="1200" dirty="0">
              <a:latin typeface="Calibri" pitchFamily="34" charset="0"/>
              <a:ea typeface="Calibri" pitchFamily="34" charset="0"/>
              <a:cs typeface="Calibri" pitchFamily="34" charset="0"/>
            </a:endParaRPr>
          </a:p>
          <a:p>
            <a:pPr marL="914400" lvl="0" indent="-304800" algn="l" rtl="0">
              <a:lnSpc>
                <a:spcPct val="115000"/>
              </a:lnSpc>
              <a:spcBef>
                <a:spcPts val="0"/>
              </a:spcBef>
              <a:spcAft>
                <a:spcPts val="0"/>
              </a:spcAft>
              <a:buSzPts val="1200"/>
              <a:buChar char="●"/>
            </a:pPr>
            <a:r>
              <a:rPr lang="en-GB" sz="1200" dirty="0">
                <a:latin typeface="Calibri" pitchFamily="34" charset="0"/>
                <a:ea typeface="Calibri" pitchFamily="34" charset="0"/>
                <a:cs typeface="Calibri" pitchFamily="34" charset="0"/>
              </a:rPr>
              <a:t>India Dominates the Low-Price Market</a:t>
            </a:r>
            <a:endParaRPr sz="1200" dirty="0">
              <a:latin typeface="Calibri" pitchFamily="34" charset="0"/>
              <a:ea typeface="Calibri" pitchFamily="34" charset="0"/>
              <a:cs typeface="Calibri" pitchFamily="34" charset="0"/>
            </a:endParaRPr>
          </a:p>
          <a:p>
            <a:pPr marL="914400" lvl="0" indent="-304800" algn="l" rtl="0">
              <a:lnSpc>
                <a:spcPct val="115000"/>
              </a:lnSpc>
              <a:spcBef>
                <a:spcPts val="0"/>
              </a:spcBef>
              <a:spcAft>
                <a:spcPts val="0"/>
              </a:spcAft>
              <a:buSzPts val="1200"/>
              <a:buChar char="●"/>
            </a:pPr>
            <a:r>
              <a:rPr lang="en-GB" sz="1200" dirty="0">
                <a:latin typeface="Calibri" pitchFamily="34" charset="0"/>
                <a:ea typeface="Calibri" pitchFamily="34" charset="0"/>
                <a:cs typeface="Calibri" pitchFamily="34" charset="0"/>
              </a:rPr>
              <a:t>Premium Dining is More Common in Brazil, Qatar, Singapore, and South Africa have a higher proportion of high-end restaurants (Price Range 4).</a:t>
            </a:r>
            <a:endParaRPr sz="1200" dirty="0">
              <a:latin typeface="Calibri" pitchFamily="34" charset="0"/>
              <a:ea typeface="Calibri" pitchFamily="34" charset="0"/>
              <a:cs typeface="Calibri" pitchFamily="34" charset="0"/>
            </a:endParaRPr>
          </a:p>
          <a:p>
            <a:pPr marL="914400" lvl="0" indent="-304800" algn="l" rtl="0">
              <a:lnSpc>
                <a:spcPct val="115000"/>
              </a:lnSpc>
              <a:spcBef>
                <a:spcPts val="0"/>
              </a:spcBef>
              <a:spcAft>
                <a:spcPts val="0"/>
              </a:spcAft>
              <a:buSzPts val="1200"/>
              <a:buChar char="●"/>
            </a:pPr>
            <a:r>
              <a:rPr lang="en-GB" sz="1200" dirty="0">
                <a:latin typeface="Calibri" pitchFamily="34" charset="0"/>
                <a:ea typeface="Calibri" pitchFamily="34" charset="0"/>
                <a:cs typeface="Calibri" pitchFamily="34" charset="0"/>
              </a:rPr>
              <a:t>Canada, Indonesia, Philippines, Qatar, and Singapore have very few or no restaurants in Price Range 1</a:t>
            </a:r>
            <a:endParaRPr sz="1200" dirty="0">
              <a:latin typeface="Calibri" pitchFamily="34" charset="0"/>
              <a:ea typeface="Calibri" pitchFamily="34" charset="0"/>
              <a:cs typeface="Calibri" pitchFamily="34" charset="0"/>
            </a:endParaRPr>
          </a:p>
          <a:p>
            <a:pPr marL="914400" lvl="0" indent="-304800" algn="l" rtl="0">
              <a:lnSpc>
                <a:spcPct val="115000"/>
              </a:lnSpc>
              <a:spcBef>
                <a:spcPts val="0"/>
              </a:spcBef>
              <a:spcAft>
                <a:spcPts val="0"/>
              </a:spcAft>
              <a:buSzPts val="1200"/>
              <a:buChar char="●"/>
            </a:pPr>
            <a:r>
              <a:rPr lang="en-GB" sz="1200" dirty="0">
                <a:latin typeface="Calibri" pitchFamily="34" charset="0"/>
                <a:ea typeface="Calibri" pitchFamily="34" charset="0"/>
                <a:cs typeface="Calibri" pitchFamily="34" charset="0"/>
              </a:rPr>
              <a:t>The United States and the United Kingdom show a relatively balanced spread across all price ranges, indicating diverse customer preferences</a:t>
            </a:r>
            <a:r>
              <a:rPr lang="en-GB" sz="1200" dirty="0"/>
              <a:t>.</a:t>
            </a:r>
            <a:endParaRPr sz="1300" dirty="0">
              <a:solidFill>
                <a:schemeClr val="dk2"/>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4"/>
          <p:cNvSpPr txBox="1">
            <a:spLocks noGrp="1"/>
          </p:cNvSpPr>
          <p:nvPr>
            <p:ph type="title"/>
          </p:nvPr>
        </p:nvSpPr>
        <p:spPr>
          <a:xfrm>
            <a:off x="1940250" y="185800"/>
            <a:ext cx="5263500" cy="5799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GB"/>
              <a:t>DASHBOARD</a:t>
            </a:r>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727" y="907471"/>
            <a:ext cx="8611346" cy="394666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5"/>
          <p:cNvSpPr txBox="1">
            <a:spLocks noGrp="1"/>
          </p:cNvSpPr>
          <p:nvPr>
            <p:ph type="title"/>
          </p:nvPr>
        </p:nvSpPr>
        <p:spPr>
          <a:xfrm>
            <a:off x="75370" y="217223"/>
            <a:ext cx="7725900" cy="880500"/>
          </a:xfrm>
          <a:prstGeom prst="rect">
            <a:avLst/>
          </a:prstGeom>
        </p:spPr>
        <p:txBody>
          <a:bodyPr spcFirstLastPara="1" wrap="square" lIns="91425" tIns="91425" rIns="91425" bIns="91425" anchor="ctr" anchorCtr="0">
            <a:normAutofit/>
          </a:bodyPr>
          <a:lstStyle/>
          <a:p>
            <a:pPr marL="0" lvl="0" indent="0" rtl="0">
              <a:spcBef>
                <a:spcPts val="0"/>
              </a:spcBef>
              <a:spcAft>
                <a:spcPts val="0"/>
              </a:spcAft>
              <a:buNone/>
            </a:pPr>
            <a:r>
              <a:rPr lang="en-GB" dirty="0">
                <a:latin typeface="Calibri" pitchFamily="34" charset="0"/>
                <a:ea typeface="Calibri" pitchFamily="34" charset="0"/>
                <a:cs typeface="Calibri" pitchFamily="34" charset="0"/>
              </a:rPr>
              <a:t>CONCLUSION</a:t>
            </a:r>
            <a:endParaRPr dirty="0">
              <a:latin typeface="Calibri" pitchFamily="34" charset="0"/>
              <a:ea typeface="Calibri" pitchFamily="34" charset="0"/>
              <a:cs typeface="Calibri" pitchFamily="34" charset="0"/>
            </a:endParaRPr>
          </a:p>
        </p:txBody>
      </p:sp>
      <p:sp>
        <p:nvSpPr>
          <p:cNvPr id="223" name="Google Shape;223;p35"/>
          <p:cNvSpPr txBox="1"/>
          <p:nvPr/>
        </p:nvSpPr>
        <p:spPr>
          <a:xfrm>
            <a:off x="208270" y="970636"/>
            <a:ext cx="5783700" cy="4100400"/>
          </a:xfrm>
          <a:prstGeom prst="rect">
            <a:avLst/>
          </a:prstGeom>
          <a:noFill/>
          <a:ln>
            <a:noFill/>
          </a:ln>
        </p:spPr>
        <p:txBody>
          <a:bodyPr spcFirstLastPara="1" wrap="square" lIns="91425" tIns="91425" rIns="91425" bIns="91425" anchor="t" anchorCtr="0">
            <a:noAutofit/>
          </a:bodyPr>
          <a:lstStyle/>
          <a:p>
            <a:pPr marL="457200" lvl="0" indent="-298450" algn="l" rtl="0">
              <a:spcBef>
                <a:spcPts val="0"/>
              </a:spcBef>
              <a:spcAft>
                <a:spcPts val="0"/>
              </a:spcAft>
              <a:buSzPts val="1100"/>
              <a:buChar char="●"/>
            </a:pPr>
            <a:r>
              <a:rPr lang="en-GB" sz="1100" dirty="0">
                <a:latin typeface="Calibri" pitchFamily="34" charset="0"/>
                <a:ea typeface="Calibri" pitchFamily="34" charset="0"/>
                <a:cs typeface="Calibri" pitchFamily="34" charset="0"/>
              </a:rPr>
              <a:t>The selected countries and cities are based on the following criteria: each has fewer than 100 existing restaurants, average ratings of 3.9 or higher, an average expenditure of less than $60 for two people, and a minimum of 150 voters. These factors indicate strong market potential and favourable conditions for new restaurant openings.</a:t>
            </a:r>
            <a:endParaRPr sz="1100" dirty="0">
              <a:latin typeface="Calibri" pitchFamily="34" charset="0"/>
              <a:ea typeface="Calibri" pitchFamily="34" charset="0"/>
              <a:cs typeface="Calibri" pitchFamily="34" charset="0"/>
            </a:endParaRPr>
          </a:p>
          <a:p>
            <a:pPr marL="457200" lvl="0" indent="0" algn="l" rtl="0">
              <a:spcBef>
                <a:spcPts val="0"/>
              </a:spcBef>
              <a:spcAft>
                <a:spcPts val="0"/>
              </a:spcAft>
              <a:buNone/>
            </a:pPr>
            <a:endParaRPr sz="1100" dirty="0">
              <a:latin typeface="Calibri" pitchFamily="34" charset="0"/>
              <a:ea typeface="Calibri" pitchFamily="34" charset="0"/>
              <a:cs typeface="Calibri" pitchFamily="34" charset="0"/>
            </a:endParaRPr>
          </a:p>
          <a:p>
            <a:pPr marL="457200" lvl="0" indent="-298450" algn="l" rtl="0">
              <a:spcBef>
                <a:spcPts val="0"/>
              </a:spcBef>
              <a:spcAft>
                <a:spcPts val="0"/>
              </a:spcAft>
              <a:buSzPts val="1100"/>
              <a:buChar char="●"/>
            </a:pPr>
            <a:r>
              <a:rPr lang="en-GB" sz="1100" dirty="0">
                <a:latin typeface="Calibri" pitchFamily="34" charset="0"/>
                <a:ea typeface="Calibri" pitchFamily="34" charset="0"/>
                <a:cs typeface="Calibri" pitchFamily="34" charset="0"/>
              </a:rPr>
              <a:t>South Africa: Cities like Cape Town, Johannesburg, Pretoria, </a:t>
            </a:r>
            <a:r>
              <a:rPr lang="en-GB" sz="1100" dirty="0" err="1">
                <a:latin typeface="Calibri" pitchFamily="34" charset="0"/>
                <a:ea typeface="Calibri" pitchFamily="34" charset="0"/>
                <a:cs typeface="Calibri" pitchFamily="34" charset="0"/>
              </a:rPr>
              <a:t>Randburg</a:t>
            </a:r>
            <a:r>
              <a:rPr lang="en-GB" sz="1100" dirty="0">
                <a:latin typeface="Calibri" pitchFamily="34" charset="0"/>
                <a:ea typeface="Calibri" pitchFamily="34" charset="0"/>
                <a:cs typeface="Calibri" pitchFamily="34" charset="0"/>
              </a:rPr>
              <a:t>, and </a:t>
            </a:r>
            <a:r>
              <a:rPr lang="en-GB" sz="1100" dirty="0" err="1">
                <a:latin typeface="Calibri" pitchFamily="34" charset="0"/>
                <a:ea typeface="Calibri" pitchFamily="34" charset="0"/>
                <a:cs typeface="Calibri" pitchFamily="34" charset="0"/>
              </a:rPr>
              <a:t>Sandton</a:t>
            </a:r>
            <a:r>
              <a:rPr lang="en-GB" sz="1100" dirty="0">
                <a:latin typeface="Calibri" pitchFamily="34" charset="0"/>
                <a:ea typeface="Calibri" pitchFamily="34" charset="0"/>
                <a:cs typeface="Calibri" pitchFamily="34" charset="0"/>
              </a:rPr>
              <a:t> are ideal for new restaurants, with a strong customer base and high average ratings.</a:t>
            </a:r>
            <a:endParaRPr sz="1100" dirty="0">
              <a:latin typeface="Calibri" pitchFamily="34" charset="0"/>
              <a:ea typeface="Calibri" pitchFamily="34" charset="0"/>
              <a:cs typeface="Calibri" pitchFamily="34" charset="0"/>
            </a:endParaRPr>
          </a:p>
          <a:p>
            <a:pPr marL="457200" lvl="0" indent="0" algn="l" rtl="0">
              <a:spcBef>
                <a:spcPts val="0"/>
              </a:spcBef>
              <a:spcAft>
                <a:spcPts val="0"/>
              </a:spcAft>
              <a:buNone/>
            </a:pPr>
            <a:endParaRPr sz="1100" dirty="0">
              <a:latin typeface="Calibri" pitchFamily="34" charset="0"/>
              <a:ea typeface="Calibri" pitchFamily="34" charset="0"/>
              <a:cs typeface="Calibri" pitchFamily="34" charset="0"/>
            </a:endParaRPr>
          </a:p>
          <a:p>
            <a:pPr marL="457200" lvl="0" indent="-298450" algn="l" rtl="0">
              <a:spcBef>
                <a:spcPts val="0"/>
              </a:spcBef>
              <a:spcAft>
                <a:spcPts val="0"/>
              </a:spcAft>
              <a:buSzPts val="1100"/>
              <a:buChar char="●"/>
            </a:pPr>
            <a:r>
              <a:rPr lang="en-GB" sz="1100" dirty="0">
                <a:latin typeface="Calibri" pitchFamily="34" charset="0"/>
                <a:ea typeface="Calibri" pitchFamily="34" charset="0"/>
                <a:cs typeface="Calibri" pitchFamily="34" charset="0"/>
              </a:rPr>
              <a:t>Sri Lanka: Colombo stands out as a prime location, meeting all criteria for restaurant expansion with favourable ratings and manageable expenditure.</a:t>
            </a:r>
            <a:endParaRPr sz="1100" dirty="0">
              <a:latin typeface="Calibri" pitchFamily="34" charset="0"/>
              <a:ea typeface="Calibri" pitchFamily="34" charset="0"/>
              <a:cs typeface="Calibri" pitchFamily="34" charset="0"/>
            </a:endParaRPr>
          </a:p>
          <a:p>
            <a:pPr marL="457200" lvl="0" indent="0" algn="l" rtl="0">
              <a:spcBef>
                <a:spcPts val="0"/>
              </a:spcBef>
              <a:spcAft>
                <a:spcPts val="0"/>
              </a:spcAft>
              <a:buNone/>
            </a:pPr>
            <a:endParaRPr sz="1100" dirty="0">
              <a:latin typeface="Calibri" pitchFamily="34" charset="0"/>
              <a:ea typeface="Calibri" pitchFamily="34" charset="0"/>
              <a:cs typeface="Calibri" pitchFamily="34" charset="0"/>
            </a:endParaRPr>
          </a:p>
          <a:p>
            <a:pPr marL="457200" lvl="0" indent="-298450" algn="l" rtl="0">
              <a:spcBef>
                <a:spcPts val="0"/>
              </a:spcBef>
              <a:spcAft>
                <a:spcPts val="0"/>
              </a:spcAft>
              <a:buSzPts val="1100"/>
              <a:buChar char="●"/>
            </a:pPr>
            <a:r>
              <a:rPr lang="en-GB" sz="1100" dirty="0">
                <a:latin typeface="Calibri" pitchFamily="34" charset="0"/>
                <a:ea typeface="Calibri" pitchFamily="34" charset="0"/>
                <a:cs typeface="Calibri" pitchFamily="34" charset="0"/>
              </a:rPr>
              <a:t>Turkey: Ankara and Istanbul are highly suitable, offering good ratings and reasonable costs, making them strategic choices for new ventures.</a:t>
            </a:r>
            <a:endParaRPr sz="1100" dirty="0">
              <a:latin typeface="Calibri" pitchFamily="34" charset="0"/>
              <a:ea typeface="Calibri" pitchFamily="34" charset="0"/>
              <a:cs typeface="Calibri" pitchFamily="34" charset="0"/>
            </a:endParaRPr>
          </a:p>
          <a:p>
            <a:pPr marL="457200" lvl="0" indent="0" algn="l" rtl="0">
              <a:spcBef>
                <a:spcPts val="0"/>
              </a:spcBef>
              <a:spcAft>
                <a:spcPts val="0"/>
              </a:spcAft>
              <a:buNone/>
            </a:pPr>
            <a:endParaRPr sz="1100" dirty="0">
              <a:latin typeface="Calibri" pitchFamily="34" charset="0"/>
              <a:ea typeface="Calibri" pitchFamily="34" charset="0"/>
              <a:cs typeface="Calibri" pitchFamily="34" charset="0"/>
            </a:endParaRPr>
          </a:p>
          <a:p>
            <a:pPr marL="457200" lvl="0" indent="-298450" algn="l" rtl="0">
              <a:spcBef>
                <a:spcPts val="0"/>
              </a:spcBef>
              <a:spcAft>
                <a:spcPts val="0"/>
              </a:spcAft>
              <a:buSzPts val="1100"/>
              <a:buChar char="●"/>
            </a:pPr>
            <a:r>
              <a:rPr lang="en-GB" sz="1100" dirty="0">
                <a:latin typeface="Calibri" pitchFamily="34" charset="0"/>
                <a:ea typeface="Calibri" pitchFamily="34" charset="0"/>
                <a:cs typeface="Calibri" pitchFamily="34" charset="0"/>
              </a:rPr>
              <a:t>Brazil : Rio de </a:t>
            </a:r>
            <a:r>
              <a:rPr lang="en-GB" sz="1100" dirty="0" err="1">
                <a:latin typeface="Calibri" pitchFamily="34" charset="0"/>
                <a:ea typeface="Calibri" pitchFamily="34" charset="0"/>
                <a:cs typeface="Calibri" pitchFamily="34" charset="0"/>
              </a:rPr>
              <a:t>janerio</a:t>
            </a:r>
            <a:r>
              <a:rPr lang="en-GB" sz="1100" dirty="0">
                <a:latin typeface="Calibri" pitchFamily="34" charset="0"/>
                <a:ea typeface="Calibri" pitchFamily="34" charset="0"/>
                <a:cs typeface="Calibri" pitchFamily="34" charset="0"/>
              </a:rPr>
              <a:t> is highly suitable, offering rating of 4.2 and less competition</a:t>
            </a:r>
            <a:endParaRPr sz="1100" dirty="0">
              <a:latin typeface="Calibri" pitchFamily="34" charset="0"/>
              <a:ea typeface="Calibri" pitchFamily="34" charset="0"/>
              <a:cs typeface="Calibri" pitchFamily="34" charset="0"/>
            </a:endParaRPr>
          </a:p>
          <a:p>
            <a:pPr marL="457200" lvl="0" indent="0" algn="l" rtl="0">
              <a:spcBef>
                <a:spcPts val="0"/>
              </a:spcBef>
              <a:spcAft>
                <a:spcPts val="0"/>
              </a:spcAft>
              <a:buNone/>
            </a:pPr>
            <a:endParaRPr sz="1100" dirty="0">
              <a:latin typeface="Calibri" pitchFamily="34" charset="0"/>
              <a:ea typeface="Calibri" pitchFamily="34" charset="0"/>
              <a:cs typeface="Calibri" pitchFamily="34" charset="0"/>
            </a:endParaRPr>
          </a:p>
          <a:p>
            <a:pPr marL="457200" lvl="0" indent="-298450" algn="l" rtl="0">
              <a:spcBef>
                <a:spcPts val="0"/>
              </a:spcBef>
              <a:spcAft>
                <a:spcPts val="0"/>
              </a:spcAft>
              <a:buSzPts val="1100"/>
              <a:buChar char="●"/>
            </a:pPr>
            <a:r>
              <a:rPr lang="en-GB" sz="1100" dirty="0">
                <a:latin typeface="Calibri" pitchFamily="34" charset="0"/>
                <a:ea typeface="Calibri" pitchFamily="34" charset="0"/>
                <a:cs typeface="Calibri" pitchFamily="34" charset="0"/>
              </a:rPr>
              <a:t>Indonesia : Bandung and Jakarta are best location for opening restaurant, with average rating of 4.2 </a:t>
            </a:r>
            <a:endParaRPr sz="1100" dirty="0">
              <a:latin typeface="Calibri" pitchFamily="34" charset="0"/>
              <a:ea typeface="Calibri" pitchFamily="34" charset="0"/>
              <a:cs typeface="Calibri" pitchFamily="34" charset="0"/>
            </a:endParaRPr>
          </a:p>
          <a:p>
            <a:pPr marL="457200" lvl="0" indent="0" algn="l" rtl="0">
              <a:spcBef>
                <a:spcPts val="0"/>
              </a:spcBef>
              <a:spcAft>
                <a:spcPts val="0"/>
              </a:spcAft>
              <a:buNone/>
            </a:pPr>
            <a:endParaRPr sz="1100" dirty="0">
              <a:latin typeface="Calibri" pitchFamily="34" charset="0"/>
              <a:ea typeface="Calibri" pitchFamily="34" charset="0"/>
              <a:cs typeface="Calibri" pitchFamily="34" charset="0"/>
            </a:endParaRPr>
          </a:p>
          <a:p>
            <a:pPr marL="457200" lvl="0" indent="-298450" algn="l" rtl="0">
              <a:spcBef>
                <a:spcPts val="0"/>
              </a:spcBef>
              <a:spcAft>
                <a:spcPts val="0"/>
              </a:spcAft>
              <a:buSzPts val="1100"/>
              <a:buChar char="●"/>
            </a:pPr>
            <a:r>
              <a:rPr lang="en-GB" sz="1100" dirty="0">
                <a:latin typeface="Calibri" pitchFamily="34" charset="0"/>
                <a:ea typeface="Calibri" pitchFamily="34" charset="0"/>
                <a:cs typeface="Calibri" pitchFamily="34" charset="0"/>
              </a:rPr>
              <a:t>United States of America - It provides vast market to expand with various cities like Dalton, Macon etc. and average price of two person is also low</a:t>
            </a:r>
            <a:endParaRPr sz="1100" dirty="0">
              <a:latin typeface="Calibri" pitchFamily="34" charset="0"/>
              <a:ea typeface="Calibri" pitchFamily="34" charset="0"/>
              <a:cs typeface="Calibri" pitchFamily="34" charset="0"/>
            </a:endParaRPr>
          </a:p>
          <a:p>
            <a:pPr marL="457200" lvl="0" indent="0" algn="l" rtl="0">
              <a:spcBef>
                <a:spcPts val="0"/>
              </a:spcBef>
              <a:spcAft>
                <a:spcPts val="0"/>
              </a:spcAft>
              <a:buNone/>
            </a:pPr>
            <a:endParaRPr sz="1300" dirty="0">
              <a:latin typeface="Calibri" pitchFamily="34" charset="0"/>
              <a:ea typeface="Calibri" pitchFamily="34" charset="0"/>
              <a:cs typeface="Calibri"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latin typeface="Calibri" pitchFamily="34" charset="0"/>
                <a:ea typeface="Calibri" pitchFamily="34" charset="0"/>
                <a:cs typeface="Calibri" pitchFamily="34" charset="0"/>
              </a:rPr>
              <a:t>Recommendations</a:t>
            </a:r>
            <a:endParaRPr lang="en-US" dirty="0">
              <a:latin typeface="Calibri" pitchFamily="34" charset="0"/>
              <a:ea typeface="Calibri" pitchFamily="34" charset="0"/>
              <a:cs typeface="Calibri" pitchFamily="34" charset="0"/>
            </a:endParaRPr>
          </a:p>
        </p:txBody>
      </p:sp>
      <p:sp>
        <p:nvSpPr>
          <p:cNvPr id="4" name="TextBox 3"/>
          <p:cNvSpPr txBox="1"/>
          <p:nvPr/>
        </p:nvSpPr>
        <p:spPr>
          <a:xfrm>
            <a:off x="519545" y="1316182"/>
            <a:ext cx="4287982" cy="1384995"/>
          </a:xfrm>
          <a:prstGeom prst="rect">
            <a:avLst/>
          </a:prstGeom>
          <a:noFill/>
        </p:spPr>
        <p:txBody>
          <a:bodyPr wrap="square" rtlCol="0">
            <a:spAutoFit/>
          </a:bodyPr>
          <a:lstStyle/>
          <a:p>
            <a:r>
              <a:rPr lang="en-US" b="1" dirty="0">
                <a:latin typeface="Calibri" pitchFamily="34" charset="0"/>
                <a:ea typeface="Calibri" pitchFamily="34" charset="0"/>
                <a:cs typeface="Calibri" pitchFamily="34" charset="0"/>
              </a:rPr>
              <a:t>Strategic Recommendations</a:t>
            </a:r>
            <a:endParaRPr lang="en-US" dirty="0">
              <a:latin typeface="Calibri" pitchFamily="34" charset="0"/>
              <a:ea typeface="Calibri" pitchFamily="34" charset="0"/>
              <a:cs typeface="Calibri" pitchFamily="34" charset="0"/>
            </a:endParaRPr>
          </a:p>
          <a:p>
            <a:pPr marL="285750" indent="-285750">
              <a:buFont typeface="Arial" pitchFamily="34" charset="0"/>
              <a:buChar char="•"/>
            </a:pPr>
            <a:r>
              <a:rPr lang="en-US" dirty="0">
                <a:latin typeface="Calibri" pitchFamily="34" charset="0"/>
                <a:ea typeface="Calibri" pitchFamily="34" charset="0"/>
                <a:cs typeface="Calibri" pitchFamily="34" charset="0"/>
              </a:rPr>
              <a:t>Expand in low-competition, high-rating markets</a:t>
            </a:r>
          </a:p>
          <a:p>
            <a:pPr marL="285750" indent="-285750">
              <a:buFont typeface="Arial" pitchFamily="34" charset="0"/>
              <a:buChar char="•"/>
            </a:pPr>
            <a:r>
              <a:rPr lang="en-US" dirty="0">
                <a:latin typeface="Calibri" pitchFamily="34" charset="0"/>
                <a:ea typeface="Calibri" pitchFamily="34" charset="0"/>
                <a:cs typeface="Calibri" pitchFamily="34" charset="0"/>
              </a:rPr>
              <a:t>Enable online delivery &amp; table booking</a:t>
            </a:r>
          </a:p>
          <a:p>
            <a:pPr marL="285750" indent="-285750">
              <a:buFont typeface="Arial" pitchFamily="34" charset="0"/>
              <a:buChar char="•"/>
            </a:pPr>
            <a:r>
              <a:rPr lang="en-US" dirty="0">
                <a:latin typeface="Calibri" pitchFamily="34" charset="0"/>
                <a:ea typeface="Calibri" pitchFamily="34" charset="0"/>
                <a:cs typeface="Calibri" pitchFamily="34" charset="0"/>
              </a:rPr>
              <a:t>Balance affordability with quality</a:t>
            </a:r>
          </a:p>
          <a:p>
            <a:pPr marL="285750" indent="-285750">
              <a:buFont typeface="Arial" pitchFamily="34" charset="0"/>
              <a:buChar char="•"/>
            </a:pPr>
            <a:r>
              <a:rPr lang="en-US" dirty="0">
                <a:latin typeface="Calibri" pitchFamily="34" charset="0"/>
                <a:ea typeface="Calibri" pitchFamily="34" charset="0"/>
                <a:cs typeface="Calibri" pitchFamily="34" charset="0"/>
              </a:rPr>
              <a:t>Customize cuisine by region</a:t>
            </a:r>
          </a:p>
          <a:p>
            <a:endParaRPr lang="en-US" dirty="0">
              <a:latin typeface="Calibri" pitchFamily="34" charset="0"/>
              <a:ea typeface="Calibri" pitchFamily="34" charset="0"/>
              <a:cs typeface="Calibri" pitchFamily="34" charset="0"/>
            </a:endParaRPr>
          </a:p>
        </p:txBody>
      </p:sp>
    </p:spTree>
    <p:extLst>
      <p:ext uri="{BB962C8B-B14F-4D97-AF65-F5344CB8AC3E}">
        <p14:creationId xmlns:p14="http://schemas.microsoft.com/office/powerpoint/2010/main" val="23096618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6"/>
          <p:cNvSpPr txBox="1">
            <a:spLocks noGrp="1"/>
          </p:cNvSpPr>
          <p:nvPr>
            <p:ph type="title"/>
          </p:nvPr>
        </p:nvSpPr>
        <p:spPr>
          <a:xfrm>
            <a:off x="2335500" y="701375"/>
            <a:ext cx="6247800" cy="35463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GB"/>
              <a:t>THANK YOU</a:t>
            </a:r>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TotalTime>
  <Words>1963</Words>
  <Application>Microsoft Office PowerPoint</Application>
  <PresentationFormat>On-screen Show (16:9)</PresentationFormat>
  <Paragraphs>128</Paragraphs>
  <Slides>25</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Merriweather</vt:lpstr>
      <vt:lpstr>Roboto</vt:lpstr>
      <vt:lpstr>Noto Sans Symbols</vt:lpstr>
      <vt:lpstr>Paradigm</vt:lpstr>
      <vt:lpstr>Zomato Market Expension Analysis Data Summarization And Visualization  Deepanshu Sharma</vt:lpstr>
      <vt:lpstr>Data Overview</vt:lpstr>
      <vt:lpstr>PowerPoint Presentation</vt:lpstr>
      <vt:lpstr>PowerPoint Presentation</vt:lpstr>
      <vt:lpstr>PROBLEM STATEMENT</vt:lpstr>
      <vt:lpstr>PowerPoint Presentation</vt:lpstr>
      <vt:lpstr>Methodology</vt:lpstr>
      <vt:lpstr>No. of Restaurants opened in each city</vt:lpstr>
      <vt:lpstr>PowerPoint Presentation</vt:lpstr>
      <vt:lpstr>PowerPoint Presentation</vt:lpstr>
      <vt:lpstr>PowerPoint Presentation</vt:lpstr>
      <vt:lpstr>PowerPoint Presentation</vt:lpstr>
      <vt:lpstr>PowerPoint Presentation</vt:lpstr>
      <vt:lpstr>States and Cities for opening Restaurants</vt:lpstr>
      <vt:lpstr>Current Quality regarding ratings for Restaurants</vt:lpstr>
      <vt:lpstr>Current expenditure on food and measures to control</vt:lpstr>
      <vt:lpstr>PowerPoint Presentation</vt:lpstr>
      <vt:lpstr>Cuisines with high rating</vt:lpstr>
      <vt:lpstr>PowerPoint Presentation</vt:lpstr>
      <vt:lpstr>Effect of higher price on ratings</vt:lpstr>
      <vt:lpstr>Restaurant Distribution according to price range</vt:lpstr>
      <vt:lpstr>DASHBOARD</vt:lpstr>
      <vt:lpstr>CONCLUSION</vt:lpstr>
      <vt:lpstr>Recommendations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Zomato Sales Analysis  Pragati Kabra</dc:title>
  <dc:creator>user</dc:creator>
  <cp:lastModifiedBy>user</cp:lastModifiedBy>
  <cp:revision>9</cp:revision>
  <dcterms:modified xsi:type="dcterms:W3CDTF">2026-01-27T07:31:41Z</dcterms:modified>
</cp:coreProperties>
</file>